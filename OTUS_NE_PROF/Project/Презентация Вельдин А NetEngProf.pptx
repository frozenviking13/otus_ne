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3" r:id="rId1"/>
    <p:sldMasterId id="2147483734" r:id="rId2"/>
    <p:sldMasterId id="2147483735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307" r:id="rId9"/>
    <p:sldId id="262" r:id="rId10"/>
    <p:sldId id="308" r:id="rId11"/>
    <p:sldId id="309" r:id="rId12"/>
    <p:sldId id="310" r:id="rId13"/>
    <p:sldId id="311" r:id="rId14"/>
    <p:sldId id="312" r:id="rId15"/>
    <p:sldId id="316" r:id="rId16"/>
    <p:sldId id="313" r:id="rId17"/>
    <p:sldId id="314" r:id="rId18"/>
    <p:sldId id="263" r:id="rId19"/>
    <p:sldId id="264" r:id="rId20"/>
    <p:sldId id="265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edium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  <p15:guide id="6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F86677-F069-4C29-8C1D-3D470B11A655}">
  <a:tblStyle styleId="{67F86677-F069-4C29-8C1D-3D470B11A6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9" d="100"/>
          <a:sy n="139" d="100"/>
        </p:scale>
        <p:origin x="804" y="126"/>
      </p:cViewPr>
      <p:guideLst>
        <p:guide pos="5533"/>
        <p:guide pos="397"/>
        <p:guide orient="horz" pos="3240"/>
        <p:guide orient="horz"/>
        <p:guide orient="horz" pos="510"/>
        <p:guide pos="1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f7d84ce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f7d84ce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" type="title">
  <p:cSld name="TITL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r>
              <a:rPr lang="ru" sz="24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+ картинка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Главная мысль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слайда, тезис, определение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 t="10742" b="10734"/>
          <a:stretch/>
        </p:blipFill>
        <p:spPr>
          <a:xfrm>
            <a:off x="5581050" y="867901"/>
            <a:ext cx="2868000" cy="31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>
            <a:spLocks noGrp="1"/>
          </p:cNvSpPr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-синий">
  <p:cSld name="MAIN_POINT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2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2"/>
          <p:cNvSpPr/>
          <p:nvPr/>
        </p:nvSpPr>
        <p:spPr>
          <a:xfrm>
            <a:off x="433125" y="553500"/>
            <a:ext cx="4161600" cy="415500"/>
          </a:xfrm>
          <a:prstGeom prst="roundRect">
            <a:avLst>
              <a:gd name="adj" fmla="val 16667"/>
            </a:avLst>
          </a:prstGeom>
          <a:solidFill>
            <a:srgbClr val="740FB4"/>
          </a:solidFill>
          <a:ln>
            <a:noFill/>
          </a:ln>
          <a:effectLst>
            <a:outerShdw blurRad="200025" dist="28575" dir="5400000" algn="bl" rotWithShape="0">
              <a:srgbClr val="000000">
                <a:alpha val="2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92"/>
          <p:cNvSpPr txBox="1"/>
          <p:nvPr/>
        </p:nvSpPr>
        <p:spPr>
          <a:xfrm>
            <a:off x="225861" y="1250655"/>
            <a:ext cx="7584300" cy="333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отказоустойчивой сети предприятия с географически распределенными ресурсами</a:t>
            </a:r>
          </a:p>
        </p:txBody>
      </p:sp>
      <p:sp>
        <p:nvSpPr>
          <p:cNvPr id="375" name="Google Shape;375;p92"/>
          <p:cNvSpPr txBox="1"/>
          <p:nvPr/>
        </p:nvSpPr>
        <p:spPr>
          <a:xfrm>
            <a:off x="572150" y="553500"/>
            <a:ext cx="434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Engineer. Professional.</a:t>
            </a:r>
            <a:endParaRPr lang="en-US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1234" y="1250655"/>
            <a:ext cx="1403026" cy="236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3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383" name="Google Shape;38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4"/>
          <p:cNvSpPr txBox="1">
            <a:spLocks noGrp="1"/>
          </p:cNvSpPr>
          <p:nvPr>
            <p:ph type="title"/>
          </p:nvPr>
        </p:nvSpPr>
        <p:spPr>
          <a:xfrm>
            <a:off x="311700" y="43108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</a:t>
            </a:r>
            <a:r>
              <a:rPr lang="ru-RU" sz="3000" dirty="0"/>
              <a:t>Организация отказоустойчивой сети предприятия с географически распределенными ресурсами</a:t>
            </a:r>
            <a:r>
              <a:rPr lang="ru" sz="3000" dirty="0"/>
              <a:t> 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94"/>
          <p:cNvSpPr txBox="1"/>
          <p:nvPr/>
        </p:nvSpPr>
        <p:spPr>
          <a:xfrm>
            <a:off x="3899475" y="2746326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Алексей Вельдин</a:t>
            </a:r>
            <a:endParaRPr sz="23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94"/>
          <p:cNvSpPr txBox="1"/>
          <p:nvPr/>
        </p:nvSpPr>
        <p:spPr>
          <a:xfrm>
            <a:off x="3899475" y="3122213"/>
            <a:ext cx="53373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Системный администратор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BCBA01-CB4A-08E7-7138-13643D5F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85" y="2501373"/>
            <a:ext cx="2034981" cy="21851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5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398" name="Google Shape;398;p95"/>
          <p:cNvSpPr/>
          <p:nvPr/>
        </p:nvSpPr>
        <p:spPr>
          <a:xfrm>
            <a:off x="1187088" y="1536294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95"/>
          <p:cNvSpPr/>
          <p:nvPr/>
        </p:nvSpPr>
        <p:spPr>
          <a:xfrm>
            <a:off x="1187088" y="210853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95"/>
          <p:cNvSpPr/>
          <p:nvPr/>
        </p:nvSpPr>
        <p:spPr>
          <a:xfrm>
            <a:off x="1187088" y="270308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95"/>
          <p:cNvCxnSpPr>
            <a:cxnSpLocks/>
            <a:endCxn id="400" idx="1"/>
          </p:cNvCxnSpPr>
          <p:nvPr/>
        </p:nvCxnSpPr>
        <p:spPr>
          <a:xfrm>
            <a:off x="1187088" y="171645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95"/>
          <p:cNvCxnSpPr>
            <a:cxnSpLocks/>
          </p:cNvCxnSpPr>
          <p:nvPr/>
        </p:nvCxnSpPr>
        <p:spPr>
          <a:xfrm>
            <a:off x="1186488" y="2296611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5"/>
          <p:cNvCxnSpPr>
            <a:stCxn id="401" idx="1"/>
            <a:endCxn id="406" idx="1"/>
          </p:cNvCxnSpPr>
          <p:nvPr/>
        </p:nvCxnSpPr>
        <p:spPr>
          <a:xfrm>
            <a:off x="1187088" y="289118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6" name="Google Shape;406;p95"/>
          <p:cNvSpPr/>
          <p:nvPr/>
        </p:nvSpPr>
        <p:spPr>
          <a:xfrm>
            <a:off x="1187100" y="322973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6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2" name="Google Shape;412;p96"/>
          <p:cNvGraphicFramePr/>
          <p:nvPr>
            <p:extLst>
              <p:ext uri="{D42A27DB-BD31-4B8C-83A1-F6EECF244321}">
                <p14:modId xmlns:p14="http://schemas.microsoft.com/office/powerpoint/2010/main" val="2997904812"/>
              </p:ext>
            </p:extLst>
          </p:nvPr>
        </p:nvGraphicFramePr>
        <p:xfrm>
          <a:off x="952500" y="2382125"/>
          <a:ext cx="7239000" cy="2150722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сеть предприятия с распределенными ресурсами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Обеспечить отказоустойчивый доступ к ресурсам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Смоделировать схему и настроить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Закрепить знания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3" name="Google Shape;413;p96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закрепить знания, полученные при прохождении курса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4A87B5-E790-0804-C991-BC7F2A593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3" y="749395"/>
            <a:ext cx="7057589" cy="43941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B08F1F-07EB-A17D-E8D8-0409C764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75" y="303223"/>
            <a:ext cx="8520600" cy="1095900"/>
          </a:xfrm>
        </p:spPr>
        <p:txBody>
          <a:bodyPr/>
          <a:lstStyle/>
          <a:p>
            <a:r>
              <a:rPr lang="ru-RU" dirty="0"/>
              <a:t>Концептуальная схема</a:t>
            </a:r>
          </a:p>
        </p:txBody>
      </p:sp>
    </p:spTree>
    <p:extLst>
      <p:ext uri="{BB962C8B-B14F-4D97-AF65-F5344CB8AC3E}">
        <p14:creationId xmlns:p14="http://schemas.microsoft.com/office/powerpoint/2010/main" val="416982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629EBFA8-DA68-5C6A-E40A-D7B3BEA70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00" y="330724"/>
            <a:ext cx="6323800" cy="4674687"/>
          </a:xfrm>
          <a:prstGeom prst="rect">
            <a:avLst/>
          </a:prstGeom>
        </p:spPr>
      </p:pic>
      <p:sp>
        <p:nvSpPr>
          <p:cNvPr id="430" name="Google Shape;430;p9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Топология</a:t>
            </a:r>
            <a:endParaRPr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802605-23E6-EF5C-CDCA-147FAC9F9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891"/>
            <a:ext cx="3890835" cy="289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9606C4-E98A-28B6-A04F-6A8D859C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IGP Office 1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AC9B86-76E1-7B2A-8360-96A2AFF0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31" y="602215"/>
            <a:ext cx="3747584" cy="1914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7D1E95-5713-5EB5-10C6-D1AC333E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31" y="2571750"/>
            <a:ext cx="2629486" cy="244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3E1C7EA-2821-345D-C499-F13060A92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83" y="1075946"/>
            <a:ext cx="2815767" cy="26409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F391B5-1A14-461C-8974-B11B9B4A5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54" y="1139144"/>
            <a:ext cx="2594600" cy="26409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5F8270-C9F3-0113-8800-B517E145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IGP Office 2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AC6826-E3B1-3781-8E71-3A51E95E1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912" y="3923668"/>
            <a:ext cx="2695682" cy="6186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74FB2E-2B2A-D186-33EC-58AECA55D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055" y="995362"/>
            <a:ext cx="306393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2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9007-43AD-AF5C-81B8-1545419B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IGP ISP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B7D37-97B6-5103-96CA-3EBABB10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00" y="893774"/>
            <a:ext cx="3167452" cy="4249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B0DF1F-BA59-71D7-99A3-875AB1F2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002" y="475103"/>
            <a:ext cx="5008164" cy="384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5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9A811D6-7A7D-D057-1420-F814672B7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61" y="1759250"/>
            <a:ext cx="4063610" cy="30535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5FF015-FE82-11C7-F0D4-BC676D1C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eBGP </a:t>
            </a:r>
            <a:endParaRPr lang="ru-RU" dirty="0"/>
          </a:p>
        </p:txBody>
      </p:sp>
      <p:sp>
        <p:nvSpPr>
          <p:cNvPr id="5" name="Google Shape;636;p114">
            <a:extLst>
              <a:ext uri="{FF2B5EF4-FFF2-40B4-BE49-F238E27FC236}">
                <a16:creationId xmlns:a16="http://schemas.microsoft.com/office/drawing/2014/main" id="{DE1149E2-B486-1BB3-4E8C-6B215F708ACE}"/>
              </a:ext>
            </a:extLst>
          </p:cNvPr>
          <p:cNvSpPr txBox="1"/>
          <p:nvPr/>
        </p:nvSpPr>
        <p:spPr>
          <a:xfrm>
            <a:off x="589670" y="930139"/>
            <a:ext cx="72246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ISP </a:t>
            </a:r>
            <a:r>
              <a:rPr lang="ru-RU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отдают только </a:t>
            </a:r>
            <a:r>
              <a:rPr lang="en-US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Default GW, </a:t>
            </a:r>
            <a:r>
              <a:rPr lang="ru-RU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клиенты не отдают локальные префиксы</a:t>
            </a:r>
            <a:endParaRPr sz="15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538;p106">
            <a:extLst>
              <a:ext uri="{FF2B5EF4-FFF2-40B4-BE49-F238E27FC236}">
                <a16:creationId xmlns:a16="http://schemas.microsoft.com/office/drawing/2014/main" id="{A88FBB79-0DC3-C48A-5298-43A948C606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172" y="878674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BA315-485B-F62E-2757-50F7C4ADC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296" y="1608058"/>
            <a:ext cx="3753854" cy="32047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EDDCC7-F0A6-C677-384E-5CA0549ED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444" y="1608059"/>
            <a:ext cx="2783480" cy="11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2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57A987D-0279-09B3-186D-AE56B4183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15" y="3069124"/>
            <a:ext cx="1987045" cy="1743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08DF21-29CF-F83C-E85E-F39D8981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Attributes (Local Pref &amp; AS Prepends)		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43A1A-2657-7758-FC2B-30D457BDE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06" y="878674"/>
            <a:ext cx="3324910" cy="2290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D89D9E-A22F-17D5-86A1-631A5C446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117" y="818147"/>
            <a:ext cx="3792119" cy="2792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5DC5DA-3B8E-AC78-ABE7-954E7E381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117" y="3480762"/>
            <a:ext cx="3265860" cy="13817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883F93-A4FC-C267-96EA-227C0011F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025" y="3068657"/>
            <a:ext cx="2603178" cy="184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66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5160376-6161-89A1-45A9-2EED3E35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553040"/>
            <a:ext cx="1891009" cy="327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08D649-8447-49AA-7394-5366AF65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IPSec Tunnel mode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9B5BB-7F4C-C622-37E8-3C128D5A8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838754"/>
            <a:ext cx="4556139" cy="1293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CB6F2C-6DC8-1234-285C-B240C8BA1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01" y="2269713"/>
            <a:ext cx="3198162" cy="213359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DC4EBF-52E8-D110-F207-541626098C7E}"/>
              </a:ext>
            </a:extLst>
          </p:cNvPr>
          <p:cNvSpPr/>
          <p:nvPr/>
        </p:nvSpPr>
        <p:spPr>
          <a:xfrm>
            <a:off x="194143" y="3961362"/>
            <a:ext cx="1967210" cy="918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2788BF-C546-CCB4-50F8-DF95C5087E45}"/>
              </a:ext>
            </a:extLst>
          </p:cNvPr>
          <p:cNvSpPr/>
          <p:nvPr/>
        </p:nvSpPr>
        <p:spPr>
          <a:xfrm>
            <a:off x="194143" y="3138868"/>
            <a:ext cx="3053882" cy="2284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3149F-E68E-2BED-63A5-D7FAAD696FFE}"/>
              </a:ext>
            </a:extLst>
          </p:cNvPr>
          <p:cNvSpPr/>
          <p:nvPr/>
        </p:nvSpPr>
        <p:spPr>
          <a:xfrm>
            <a:off x="194143" y="2211058"/>
            <a:ext cx="3053882" cy="6083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EDC2782-50AD-4422-2A24-CF6C911B7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175" y="3961363"/>
            <a:ext cx="3099146" cy="7924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314200-B4AE-4456-D139-F2F02F3B6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956" y="190499"/>
            <a:ext cx="3302324" cy="383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7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A92C0D1-714C-1956-12E4-B18DC958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611" y="1144021"/>
            <a:ext cx="2260739" cy="28429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F5ACA6-61B6-B7F3-D924-2B1C8C05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368442" cy="590388"/>
          </a:xfrm>
        </p:spPr>
        <p:txBody>
          <a:bodyPr/>
          <a:lstStyle/>
          <a:p>
            <a:r>
              <a:rPr lang="en-US" dirty="0"/>
              <a:t>CA	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D9B77-63C4-CBC2-4E9B-F5637C85F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212" y="398760"/>
            <a:ext cx="3543686" cy="3589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8CB1EE-4D65-EE73-7DEF-FCD2206D0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296" y="3997495"/>
            <a:ext cx="6675807" cy="867962"/>
          </a:xfrm>
          <a:prstGeom prst="rect">
            <a:avLst/>
          </a:prstGeom>
        </p:spPr>
      </p:pic>
      <p:sp>
        <p:nvSpPr>
          <p:cNvPr id="9" name="Google Shape;636;p114">
            <a:extLst>
              <a:ext uri="{FF2B5EF4-FFF2-40B4-BE49-F238E27FC236}">
                <a16:creationId xmlns:a16="http://schemas.microsoft.com/office/drawing/2014/main" id="{5583AB95-5197-0E9E-E4B2-843282012FE2}"/>
              </a:ext>
            </a:extLst>
          </p:cNvPr>
          <p:cNvSpPr txBox="1"/>
          <p:nvPr/>
        </p:nvSpPr>
        <p:spPr>
          <a:xfrm>
            <a:off x="589669" y="930139"/>
            <a:ext cx="3719119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</a:t>
            </a:r>
            <a:r>
              <a:rPr lang="en-US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 </a:t>
            </a:r>
            <a:r>
              <a:rPr lang="ru-RU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был выбран </a:t>
            </a:r>
            <a:r>
              <a:rPr lang="en-US" sz="15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5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538;p106">
            <a:extLst>
              <a:ext uri="{FF2B5EF4-FFF2-40B4-BE49-F238E27FC236}">
                <a16:creationId xmlns:a16="http://schemas.microsoft.com/office/drawing/2014/main" id="{B0CE02CA-3278-8161-9415-768EF0AF710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172" y="878674"/>
            <a:ext cx="456645" cy="4566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104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73B64B-9FA0-F640-BE4E-1FAD7E21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958" y="575308"/>
            <a:ext cx="4106394" cy="1782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67CF7-C699-4D2E-5C4A-26FC22988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4" y="2249742"/>
            <a:ext cx="2632982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26DAC-E45D-FA6E-AB40-BEF6180F7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014" y="158845"/>
            <a:ext cx="2915132" cy="48258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F5ACA6-61B6-B7F3-D924-2B1C8C053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 over IPSec </a:t>
            </a:r>
            <a:br>
              <a:rPr lang="en-US" dirty="0"/>
            </a:br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FCEECC-5456-BB57-1E8A-B103BC161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964" y="1153842"/>
            <a:ext cx="1946218" cy="714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D4EEA6-5591-BCDA-3923-E89AF4771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5946" y="3014663"/>
            <a:ext cx="3066250" cy="185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91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439" name="Google Shape;439;p99"/>
          <p:cNvGraphicFramePr/>
          <p:nvPr>
            <p:extLst>
              <p:ext uri="{D42A27DB-BD31-4B8C-83A1-F6EECF244321}">
                <p14:modId xmlns:p14="http://schemas.microsoft.com/office/powerpoint/2010/main" val="4045909155"/>
              </p:ext>
            </p:extLst>
          </p:nvPr>
        </p:nvGraphicFramePr>
        <p:xfrm>
          <a:off x="500550" y="1058382"/>
          <a:ext cx="7424250" cy="3374016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590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3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Смоделирована вполне рабочая сеть организации и по сути цель достигнута, хотя в ходе выполнения вектор несколько раз менялся 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Есть альтернативные варианты решения задач, со своими достоинствами и недостатками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 помогла закрепить знания, полученные при прохождении курса, особенно в области маршрутизации и фильтрации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-RU" sz="14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Новые горизонты и поле для дальнейшего роста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Google Shape;532;p106">
            <a:extLst>
              <a:ext uri="{FF2B5EF4-FFF2-40B4-BE49-F238E27FC236}">
                <a16:creationId xmlns:a16="http://schemas.microsoft.com/office/drawing/2014/main" id="{6CE2FF87-F37F-06BA-5B53-0468536DAC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4044" y="2745390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24;p106">
            <a:extLst>
              <a:ext uri="{FF2B5EF4-FFF2-40B4-BE49-F238E27FC236}">
                <a16:creationId xmlns:a16="http://schemas.microsoft.com/office/drawing/2014/main" id="{30F5B7FB-35ED-AE1E-483B-65A70CE827D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4800" y="1002817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52;p106">
            <a:extLst>
              <a:ext uri="{FF2B5EF4-FFF2-40B4-BE49-F238E27FC236}">
                <a16:creationId xmlns:a16="http://schemas.microsoft.com/office/drawing/2014/main" id="{3C09BA0D-F7CE-2A3B-29C1-65A2B742F30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4857" y="1816718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30;p106">
            <a:extLst>
              <a:ext uri="{FF2B5EF4-FFF2-40B4-BE49-F238E27FC236}">
                <a16:creationId xmlns:a16="http://schemas.microsoft.com/office/drawing/2014/main" id="{329D997C-EBAF-9665-ED81-BF058EB73C2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63000" y="3667032"/>
            <a:ext cx="552178" cy="552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100"/>
          <p:cNvPicPr preferRelativeResize="0"/>
          <p:nvPr/>
        </p:nvPicPr>
        <p:blipFill rotWithShape="1">
          <a:blip r:embed="rId3">
            <a:alphaModFix/>
          </a:blip>
          <a:srcRect l="10873" b="29922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10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10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10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0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1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1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 dirty="0">
                <a:solidFill>
                  <a:schemeClr val="lt1"/>
                </a:solidFill>
              </a:rPr>
              <a:t>Спасибо за внимание!</a:t>
            </a:r>
            <a:endParaRPr sz="5000" dirty="0">
              <a:solidFill>
                <a:schemeClr val="lt1"/>
              </a:solidFill>
            </a:endParaRPr>
          </a:p>
        </p:txBody>
      </p:sp>
      <p:pic>
        <p:nvPicPr>
          <p:cNvPr id="462" name="Google Shape;46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212</Words>
  <Application>Microsoft Office PowerPoint</Application>
  <PresentationFormat>On-screen Show (16:9)</PresentationFormat>
  <Paragraphs>51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Courier New</vt:lpstr>
      <vt:lpstr>Arial</vt:lpstr>
      <vt:lpstr>Roboto Medium</vt:lpstr>
      <vt:lpstr>Roboto</vt:lpstr>
      <vt:lpstr>Светлая тема</vt:lpstr>
      <vt:lpstr>Светлая тема</vt:lpstr>
      <vt:lpstr>Светлая тема</vt:lpstr>
      <vt:lpstr>PowerPoint Presentation</vt:lpstr>
      <vt:lpstr>Меня хорошо видно &amp; слышно?</vt:lpstr>
      <vt:lpstr>Защита проекта Тема:Организация отказоустойчивой сети предприятия с географически распределенными ресурсами    </vt:lpstr>
      <vt:lpstr>План защиты</vt:lpstr>
      <vt:lpstr>PowerPoint Presentation</vt:lpstr>
      <vt:lpstr>Концептуальная схема</vt:lpstr>
      <vt:lpstr>Топология</vt:lpstr>
      <vt:lpstr>IGP Office 1</vt:lpstr>
      <vt:lpstr>IGP Office 2</vt:lpstr>
      <vt:lpstr>IGP ISP</vt:lpstr>
      <vt:lpstr>eBGP </vt:lpstr>
      <vt:lpstr>BGP Attributes (Local Pref &amp; AS Prepends)  </vt:lpstr>
      <vt:lpstr>IPSec Tunnel mode</vt:lpstr>
      <vt:lpstr>CA </vt:lpstr>
      <vt:lpstr>GRE over IPSec  </vt:lpstr>
      <vt:lpstr>Выводы </vt:lpstr>
      <vt:lpstr>PowerPoint Presentation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ads_freeze_md ads_freeze_md</cp:lastModifiedBy>
  <cp:revision>26</cp:revision>
  <dcterms:modified xsi:type="dcterms:W3CDTF">2026-04-30T13:31:03Z</dcterms:modified>
</cp:coreProperties>
</file>