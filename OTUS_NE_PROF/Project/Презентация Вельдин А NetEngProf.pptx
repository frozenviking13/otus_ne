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733" r:id="rId1"/>
    <p:sldMasterId id="2147483734" r:id="rId2"/>
    <p:sldMasterId id="2147483735" r:id="rId3"/>
  </p:sldMasterIdLst>
  <p:notesMasterIdLst>
    <p:notesMasterId r:id="rId22"/>
  </p:notesMasterIdLst>
  <p:sldIdLst>
    <p:sldId id="256" r:id="rId4"/>
    <p:sldId id="257" r:id="rId5"/>
    <p:sldId id="258" r:id="rId6"/>
    <p:sldId id="259" r:id="rId7"/>
    <p:sldId id="260" r:id="rId8"/>
    <p:sldId id="307" r:id="rId9"/>
    <p:sldId id="262" r:id="rId10"/>
    <p:sldId id="308" r:id="rId11"/>
    <p:sldId id="309" r:id="rId12"/>
    <p:sldId id="310" r:id="rId13"/>
    <p:sldId id="311" r:id="rId14"/>
    <p:sldId id="312" r:id="rId15"/>
    <p:sldId id="316" r:id="rId16"/>
    <p:sldId id="313" r:id="rId17"/>
    <p:sldId id="314" r:id="rId18"/>
    <p:sldId id="263" r:id="rId19"/>
    <p:sldId id="264" r:id="rId20"/>
    <p:sldId id="265" r:id="rId21"/>
  </p:sldIdLst>
  <p:sldSz cx="9144000" cy="5143500" type="screen16x9"/>
  <p:notesSz cx="6858000" cy="9144000"/>
  <p:embeddedFontLst>
    <p:embeddedFont>
      <p:font typeface="Roboto" panose="02000000000000000000" pitchFamily="2" charset="0"/>
      <p:regular r:id="rId23"/>
      <p:bold r:id="rId24"/>
      <p:italic r:id="rId25"/>
      <p:boldItalic r:id="rId26"/>
    </p:embeddedFont>
    <p:embeddedFont>
      <p:font typeface="Roboto Medium" panose="02000000000000000000" pitchFamily="2" charset="0"/>
      <p:regular r:id="rId27"/>
      <p:bold r:id="rId28"/>
      <p:italic r:id="rId29"/>
      <p:boldItalic r:id="rId3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pos="5533">
          <p15:clr>
            <a:srgbClr val="A4A3A4"/>
          </p15:clr>
        </p15:guide>
        <p15:guide id="2" pos="397">
          <p15:clr>
            <a:srgbClr val="9AA0A6"/>
          </p15:clr>
        </p15:guide>
        <p15:guide id="3" orient="horz" pos="3240">
          <p15:clr>
            <a:srgbClr val="9AA0A6"/>
          </p15:clr>
        </p15:guide>
        <p15:guide id="4" orient="horz">
          <p15:clr>
            <a:srgbClr val="747775"/>
          </p15:clr>
        </p15:guide>
        <p15:guide id="5" orient="horz" pos="510">
          <p15:clr>
            <a:srgbClr val="747775"/>
          </p15:clr>
        </p15:guide>
        <p15:guide id="6" pos="102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7F86677-F069-4C29-8C1D-3D470B11A655}">
  <a:tblStyle styleId="{67F86677-F069-4C29-8C1D-3D470B11A655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39" d="100"/>
          <a:sy n="139" d="100"/>
        </p:scale>
        <p:origin x="804" y="126"/>
      </p:cViewPr>
      <p:guideLst>
        <p:guide pos="5533"/>
        <p:guide pos="397"/>
        <p:guide orient="horz" pos="3240"/>
        <p:guide orient="horz"/>
        <p:guide orient="horz" pos="510"/>
        <p:guide pos="10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font" Target="fonts/font4.fntdata"/><Relationship Id="rId3" Type="http://schemas.openxmlformats.org/officeDocument/2006/relationships/slideMaster" Target="slideMasters/slideMaster3.xml"/><Relationship Id="rId21" Type="http://schemas.openxmlformats.org/officeDocument/2006/relationships/slide" Target="slides/slide18.xml"/><Relationship Id="rId34" Type="http://schemas.openxmlformats.org/officeDocument/2006/relationships/tableStyles" Target="tableStyles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font" Target="fonts/font3.fntdata"/><Relationship Id="rId33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0" Type="http://schemas.openxmlformats.org/officeDocument/2006/relationships/slide" Target="slides/slide17.xml"/><Relationship Id="rId29" Type="http://schemas.openxmlformats.org/officeDocument/2006/relationships/font" Target="fonts/font7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font" Target="fonts/font2.fntdata"/><Relationship Id="rId32" Type="http://schemas.openxmlformats.org/officeDocument/2006/relationships/viewProps" Target="viewProps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font" Target="fonts/font1.fntdata"/><Relationship Id="rId28" Type="http://schemas.openxmlformats.org/officeDocument/2006/relationships/font" Target="fonts/font6.fntdata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31" Type="http://schemas.openxmlformats.org/officeDocument/2006/relationships/presProps" Target="presProps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notesMaster" Target="notesMasters/notesMaster1.xml"/><Relationship Id="rId27" Type="http://schemas.openxmlformats.org/officeDocument/2006/relationships/font" Target="fonts/font5.fntdata"/><Relationship Id="rId30" Type="http://schemas.openxmlformats.org/officeDocument/2006/relationships/font" Target="fonts/font8.fntdata"/><Relationship Id="rId8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9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g30f7d84ce1d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0" name="Google Shape;370;g30f7d84ce1d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g30f7d84ce1d_0_1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9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0" name="Google Shape;380;g30f7d84ce1d_0_1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gde823becd0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7" name="Google Shape;387;gde823becd0_0_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Google Shape;394;g30f7d84ce1d_0_2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5" name="Google Shape;395;g30f7d84ce1d_0_2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Google Shape;408;gf98075b259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9" name="Google Shape;409;gf98075b259_0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Google Shape;427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8" name="Google Shape;428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gf98075b259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6" name="Google Shape;436;gf98075b259_0_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Google Shape;444;g3104438fcaf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5" name="Google Shape;445;g3104438fcaf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Google Shape;457;g30f7d84ce1d_0_3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8" name="Google Shape;458;g30f7d84ce1d_0_3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ИТУЛЬНЫЙ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l="99" r="99"/>
          <a:stretch/>
        </p:blipFill>
        <p:spPr>
          <a:xfrm>
            <a:off x="-17925" y="-10075"/>
            <a:ext cx="9194726" cy="5182151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944650" y="4350425"/>
            <a:ext cx="8293200" cy="48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title"/>
          </p:nvPr>
        </p:nvSpPr>
        <p:spPr>
          <a:xfrm>
            <a:off x="944650" y="1769200"/>
            <a:ext cx="7379700" cy="237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5600">
                <a:solidFill>
                  <a:schemeClr val="lt1"/>
                </a:solidFill>
              </a:defRPr>
            </a:lvl1pPr>
            <a:lvl2pPr lvl="1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Белый слайд + заголовок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500550" y="1784775"/>
            <a:ext cx="7935300" cy="114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Ваш макет 1">
  <p:cSld name="CUSTOM_5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5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5"/>
          <p:cNvSpPr txBox="1">
            <a:spLocks noGrp="1"/>
          </p:cNvSpPr>
          <p:nvPr>
            <p:ph type="body" idx="1"/>
          </p:nvPr>
        </p:nvSpPr>
        <p:spPr>
          <a:xfrm>
            <a:off x="500550" y="1426469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238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500"/>
              <a:buChar char="●"/>
              <a:defRPr sz="1500"/>
            </a:lvl1pPr>
            <a:lvl2pPr marL="914400" lvl="1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○"/>
              <a:defRPr sz="1300"/>
            </a:lvl2pPr>
            <a:lvl3pPr marL="1371600" lvl="2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3pPr>
            <a:lvl4pPr marL="1828800" lvl="3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●"/>
              <a:defRPr sz="1300"/>
            </a:lvl4pPr>
            <a:lvl5pPr marL="2286000" lvl="4" indent="-31115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00"/>
              <a:buChar char="○"/>
              <a:defRPr sz="1300"/>
            </a:lvl5pPr>
            <a:lvl6pPr marL="2743200" lvl="5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6pPr>
            <a:lvl7pPr marL="3200400" lvl="6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●"/>
              <a:defRPr sz="1300"/>
            </a:lvl7pPr>
            <a:lvl8pPr marL="3657600" lvl="7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○"/>
              <a:defRPr sz="1300"/>
            </a:lvl8pPr>
            <a:lvl9pPr marL="4114800" lvl="8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9pPr>
          </a:lstStyle>
          <a:p>
            <a:endParaRPr/>
          </a:p>
        </p:txBody>
      </p:sp>
      <p:sp>
        <p:nvSpPr>
          <p:cNvPr id="21" name="Google Shape;21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ема вебинара" type="twoColTx">
  <p:cSld name="TITLE_AND_TWO_COLUMNS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4" name="Google Shape;24;p6"/>
          <p:cNvSpPr txBox="1">
            <a:spLocks noGrp="1"/>
          </p:cNvSpPr>
          <p:nvPr>
            <p:ph type="title"/>
          </p:nvPr>
        </p:nvSpPr>
        <p:spPr>
          <a:xfrm>
            <a:off x="500550" y="821213"/>
            <a:ext cx="8520600" cy="198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6"/>
          <p:cNvSpPr txBox="1">
            <a:spLocks noGrp="1"/>
          </p:cNvSpPr>
          <p:nvPr>
            <p:ph type="subTitle" idx="1"/>
          </p:nvPr>
        </p:nvSpPr>
        <p:spPr>
          <a:xfrm>
            <a:off x="500550" y="457313"/>
            <a:ext cx="77967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1500"/>
              <a:buNone/>
              <a:defRPr sz="1500">
                <a:solidFill>
                  <a:srgbClr val="013D85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6"/>
          <p:cNvSpPr txBox="1">
            <a:spLocks noGrp="1"/>
          </p:cNvSpPr>
          <p:nvPr>
            <p:ph type="subTitle" idx="2"/>
          </p:nvPr>
        </p:nvSpPr>
        <p:spPr>
          <a:xfrm>
            <a:off x="3135425" y="2978831"/>
            <a:ext cx="5856300" cy="5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1500"/>
              <a:buNone/>
              <a:defRPr sz="1500" b="1">
                <a:solidFill>
                  <a:srgbClr val="013D85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ubTitle" idx="3"/>
          </p:nvPr>
        </p:nvSpPr>
        <p:spPr>
          <a:xfrm>
            <a:off x="3135425" y="3278981"/>
            <a:ext cx="58563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8" name="Google Shape;28;p6"/>
          <p:cNvSpPr txBox="1">
            <a:spLocks noGrp="1"/>
          </p:cNvSpPr>
          <p:nvPr>
            <p:ph type="subTitle" idx="4"/>
          </p:nvPr>
        </p:nvSpPr>
        <p:spPr>
          <a:xfrm>
            <a:off x="3135425" y="3662550"/>
            <a:ext cx="5856300" cy="103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397">
          <p15:clr>
            <a:srgbClr val="FA7B17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ительный слайд">
  <p:cSld name="MAIN_POINT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pic>
        <p:nvPicPr>
          <p:cNvPr id="31" name="Google Shape;31;p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2" name="Google Shape;32;p7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600"/>
              <a:buNone/>
              <a:defRPr sz="46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О себе">
  <p:cSld name="CUSTOM_1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8"/>
          <p:cNvSpPr txBox="1">
            <a:spLocks noGrp="1"/>
          </p:cNvSpPr>
          <p:nvPr>
            <p:ph type="subTitle" idx="1"/>
          </p:nvPr>
        </p:nvSpPr>
        <p:spPr>
          <a:xfrm>
            <a:off x="3891775" y="1716281"/>
            <a:ext cx="4391700" cy="5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1600"/>
              <a:buNone/>
              <a:defRPr sz="1600" b="1">
                <a:solidFill>
                  <a:srgbClr val="013D85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6" name="Google Shape;36;p8"/>
          <p:cNvSpPr txBox="1">
            <a:spLocks noGrp="1"/>
          </p:cNvSpPr>
          <p:nvPr>
            <p:ph type="subTitle" idx="2"/>
          </p:nvPr>
        </p:nvSpPr>
        <p:spPr>
          <a:xfrm>
            <a:off x="3891775" y="2252801"/>
            <a:ext cx="5095200" cy="251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+описание">
  <p:cSld name="SECTION_TITLE_AND_DESCRIPTION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title"/>
          </p:nvPr>
        </p:nvSpPr>
        <p:spPr>
          <a:xfrm>
            <a:off x="609075" y="12208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ubTitle" idx="1"/>
          </p:nvPr>
        </p:nvSpPr>
        <p:spPr>
          <a:xfrm>
            <a:off x="609075" y="2916213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  <p:sp>
        <p:nvSpPr>
          <p:cNvPr id="41" name="Google Shape;41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36550">
              <a:spcBef>
                <a:spcPts val="0"/>
              </a:spcBef>
              <a:spcAft>
                <a:spcPts val="0"/>
              </a:spcAft>
              <a:buSzPts val="1700"/>
              <a:buChar char="●"/>
              <a:defRPr/>
            </a:lvl1pPr>
            <a:lvl2pPr marL="914400" lvl="1" indent="-32385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2pPr>
            <a:lvl3pPr marL="1371600" lvl="2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3pPr>
            <a:lvl4pPr marL="1828800" lvl="3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4pPr>
            <a:lvl5pPr marL="2286000" lvl="4" indent="-31115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5pPr>
            <a:lvl6pPr marL="2743200" lvl="5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6pPr>
            <a:lvl7pPr marL="3200400" lvl="6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7pPr>
            <a:lvl8pPr marL="3657600" lvl="7" indent="-31115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8pPr>
            <a:lvl9pPr marL="4114800" lvl="8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9pPr>
          </a:lstStyle>
          <a:p>
            <a:endParaRPr/>
          </a:p>
        </p:txBody>
      </p:sp>
      <p:sp>
        <p:nvSpPr>
          <p:cNvPr id="42" name="Google Shape;42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">
  <p:cSld name="CUSTOM_3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кодом 1">
  <p:cSld name="CUSTOM_2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2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12"/>
          <p:cNvSpPr/>
          <p:nvPr/>
        </p:nvSpPr>
        <p:spPr>
          <a:xfrm>
            <a:off x="590475" y="1364975"/>
            <a:ext cx="7988400" cy="34125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50;p12"/>
          <p:cNvSpPr txBox="1">
            <a:spLocks noGrp="1"/>
          </p:cNvSpPr>
          <p:nvPr>
            <p:ph type="subTitle" idx="1"/>
          </p:nvPr>
        </p:nvSpPr>
        <p:spPr>
          <a:xfrm>
            <a:off x="754725" y="1516446"/>
            <a:ext cx="82263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Courier New"/>
              <a:buNone/>
              <a:defRPr sz="1100"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кодом 2">
  <p:cSld name="CUSTOM_2_1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3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13"/>
          <p:cNvSpPr/>
          <p:nvPr/>
        </p:nvSpPr>
        <p:spPr>
          <a:xfrm>
            <a:off x="590475" y="1364975"/>
            <a:ext cx="7988400" cy="3412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13"/>
          <p:cNvSpPr txBox="1">
            <a:spLocks noGrp="1"/>
          </p:cNvSpPr>
          <p:nvPr>
            <p:ph type="subTitle" idx="1"/>
          </p:nvPr>
        </p:nvSpPr>
        <p:spPr>
          <a:xfrm>
            <a:off x="754725" y="1516446"/>
            <a:ext cx="82263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Courier New"/>
              <a:buNone/>
              <a:defRPr sz="110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КОД+ТЕКСТ 1">
  <p:cSld name="CUSTOM_4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4"/>
          <p:cNvSpPr txBox="1">
            <a:spLocks noGrp="1"/>
          </p:cNvSpPr>
          <p:nvPr>
            <p:ph type="subTitle" idx="1"/>
          </p:nvPr>
        </p:nvSpPr>
        <p:spPr>
          <a:xfrm>
            <a:off x="544050" y="1350425"/>
            <a:ext cx="5316300" cy="90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8" name="Google Shape;58;p14"/>
          <p:cNvSpPr/>
          <p:nvPr/>
        </p:nvSpPr>
        <p:spPr>
          <a:xfrm>
            <a:off x="606200" y="2144231"/>
            <a:ext cx="7938600" cy="24645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59;p14"/>
          <p:cNvSpPr txBox="1">
            <a:spLocks noGrp="1"/>
          </p:cNvSpPr>
          <p:nvPr>
            <p:ph type="subTitle" idx="2"/>
          </p:nvPr>
        </p:nvSpPr>
        <p:spPr>
          <a:xfrm>
            <a:off x="795050" y="2220038"/>
            <a:ext cx="7568100" cy="236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Courier New"/>
              <a:buNone/>
              <a:defRPr sz="1300"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КОД+ТЕКСТ 2">
  <p:cSld name="CUSTOM_4_1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5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15"/>
          <p:cNvSpPr/>
          <p:nvPr/>
        </p:nvSpPr>
        <p:spPr>
          <a:xfrm>
            <a:off x="362300" y="1384249"/>
            <a:ext cx="4748700" cy="33933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Google Shape;63;p15"/>
          <p:cNvSpPr txBox="1">
            <a:spLocks noGrp="1"/>
          </p:cNvSpPr>
          <p:nvPr>
            <p:ph type="subTitle" idx="1"/>
          </p:nvPr>
        </p:nvSpPr>
        <p:spPr>
          <a:xfrm>
            <a:off x="500550" y="1474819"/>
            <a:ext cx="44286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Courier New"/>
              <a:buNone/>
              <a:defRPr sz="1300"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5"/>
          <p:cNvSpPr txBox="1">
            <a:spLocks noGrp="1"/>
          </p:cNvSpPr>
          <p:nvPr>
            <p:ph type="subTitle" idx="2"/>
          </p:nvPr>
        </p:nvSpPr>
        <p:spPr>
          <a:xfrm>
            <a:off x="5555275" y="1474819"/>
            <a:ext cx="3151200" cy="32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блок текст + картинка" type="title">
  <p:cSld name="TITLE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7"/>
          <p:cNvSpPr txBox="1">
            <a:spLocks noGrp="1"/>
          </p:cNvSpPr>
          <p:nvPr>
            <p:ph type="title"/>
          </p:nvPr>
        </p:nvSpPr>
        <p:spPr>
          <a:xfrm>
            <a:off x="495300" y="1493850"/>
            <a:ext cx="4424100" cy="215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  <p:pic>
        <p:nvPicPr>
          <p:cNvPr id="71" name="Google Shape;71;p1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5283625" y="843000"/>
            <a:ext cx="3457500" cy="3457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47">
          <p15:clr>
            <a:srgbClr val="E46962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Цитата, фон градиент" type="secHead">
  <p:cSld name="SECTION_HEADER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8"/>
          <p:cNvSpPr txBox="1">
            <a:spLocks noGrp="1"/>
          </p:cNvSpPr>
          <p:nvPr>
            <p:ph type="title"/>
          </p:nvPr>
        </p:nvSpPr>
        <p:spPr>
          <a:xfrm>
            <a:off x="604350" y="1999200"/>
            <a:ext cx="7935300" cy="114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None/>
              <a:defRPr sz="4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74" name="Google Shape;74;p1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этапы процесса">
  <p:cSld name="CUSTOM_5"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9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77" name="Google Shape;77;p1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922851" y="1821363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78" name="Google Shape;78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68289" y="1821362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79" name="Google Shape;79;p1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527615" y="1821362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80" name="Google Shape;80;p19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347001" y="1821362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sp>
        <p:nvSpPr>
          <p:cNvPr id="81" name="Google Shape;81;p19"/>
          <p:cNvSpPr txBox="1"/>
          <p:nvPr/>
        </p:nvSpPr>
        <p:spPr>
          <a:xfrm>
            <a:off x="1213006" y="1944853"/>
            <a:ext cx="1062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rgbClr val="EEEEEE"/>
                </a:solidFill>
                <a:latin typeface="Roboto"/>
                <a:ea typeface="Roboto"/>
                <a:cs typeface="Roboto"/>
                <a:sym typeface="Roboto"/>
              </a:rPr>
              <a:t>Этап 1</a:t>
            </a:r>
            <a:endParaRPr sz="1500" b="1">
              <a:solidFill>
                <a:srgbClr val="EEEEEE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2" name="Google Shape;82;p19"/>
          <p:cNvSpPr txBox="1"/>
          <p:nvPr/>
        </p:nvSpPr>
        <p:spPr>
          <a:xfrm>
            <a:off x="3058443" y="1944853"/>
            <a:ext cx="1062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rgbClr val="EEEEEE"/>
                </a:solidFill>
                <a:latin typeface="Roboto"/>
                <a:ea typeface="Roboto"/>
                <a:cs typeface="Roboto"/>
                <a:sym typeface="Roboto"/>
              </a:rPr>
              <a:t>Этап 2</a:t>
            </a:r>
            <a:endParaRPr sz="1500" b="1">
              <a:solidFill>
                <a:srgbClr val="EEEEEE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3" name="Google Shape;83;p19"/>
          <p:cNvSpPr txBox="1"/>
          <p:nvPr/>
        </p:nvSpPr>
        <p:spPr>
          <a:xfrm>
            <a:off x="4817770" y="1944853"/>
            <a:ext cx="1062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rgbClr val="EEEEEE"/>
                </a:solidFill>
                <a:latin typeface="Roboto"/>
                <a:ea typeface="Roboto"/>
                <a:cs typeface="Roboto"/>
                <a:sym typeface="Roboto"/>
              </a:rPr>
              <a:t>Этап 3</a:t>
            </a:r>
            <a:endParaRPr sz="1500" b="1">
              <a:solidFill>
                <a:srgbClr val="EEEEEE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4" name="Google Shape;84;p19"/>
          <p:cNvSpPr txBox="1"/>
          <p:nvPr/>
        </p:nvSpPr>
        <p:spPr>
          <a:xfrm>
            <a:off x="6637156" y="1944853"/>
            <a:ext cx="1062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rgbClr val="EEEEEE"/>
                </a:solidFill>
                <a:latin typeface="Roboto"/>
                <a:ea typeface="Roboto"/>
                <a:cs typeface="Roboto"/>
                <a:sym typeface="Roboto"/>
              </a:rPr>
              <a:t>Этап 4</a:t>
            </a:r>
            <a:endParaRPr sz="1500" b="1">
              <a:solidFill>
                <a:srgbClr val="EEEEEE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5" name="Google Shape;85;p19"/>
          <p:cNvSpPr txBox="1"/>
          <p:nvPr/>
        </p:nvSpPr>
        <p:spPr>
          <a:xfrm>
            <a:off x="982906" y="3241600"/>
            <a:ext cx="1523100" cy="109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Описание данных в виде набора сущностей, отношений между ними, атрибутов сущностей, </a:t>
            </a:r>
            <a:r>
              <a:rPr lang="ru" sz="90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их типов данных, соглашений </a:t>
            </a:r>
            <a:endParaRPr sz="90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об именовании и правил проверки целостностей </a:t>
            </a:r>
            <a:endParaRPr sz="9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" name="Google Shape;86;p19"/>
          <p:cNvSpPr txBox="1"/>
          <p:nvPr/>
        </p:nvSpPr>
        <p:spPr>
          <a:xfrm>
            <a:off x="2828343" y="3241600"/>
            <a:ext cx="1523100" cy="109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Описание данных в виде набора сущностей, отношений между ними, атрибутов сущностей, </a:t>
            </a:r>
            <a:r>
              <a:rPr lang="ru" sz="90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их типов данных, соглашений </a:t>
            </a:r>
            <a:endParaRPr sz="90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об именовании и правил проверки целостностей </a:t>
            </a:r>
            <a:endParaRPr sz="9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7" name="Google Shape;87;p19"/>
          <p:cNvSpPr txBox="1"/>
          <p:nvPr/>
        </p:nvSpPr>
        <p:spPr>
          <a:xfrm>
            <a:off x="4587670" y="3241600"/>
            <a:ext cx="1523100" cy="109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Описание данных в виде набора сущностей, отношений между ними, атрибутов сущностей, </a:t>
            </a:r>
            <a:r>
              <a:rPr lang="ru" sz="90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их типов данных, соглашений </a:t>
            </a:r>
            <a:endParaRPr sz="90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об именовании и правил проверки целостностей </a:t>
            </a:r>
            <a:endParaRPr sz="9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8" name="Google Shape;88;p19"/>
          <p:cNvSpPr txBox="1"/>
          <p:nvPr/>
        </p:nvSpPr>
        <p:spPr>
          <a:xfrm>
            <a:off x="6407056" y="3241600"/>
            <a:ext cx="1523100" cy="109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Описание данных в виде набора сущностей, отношений между ними, атрибутов сущностей, </a:t>
            </a:r>
            <a:r>
              <a:rPr lang="ru" sz="90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их типов данных, соглашений </a:t>
            </a:r>
            <a:endParaRPr sz="90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об именовании и правил проверки целостностей </a:t>
            </a:r>
            <a:endParaRPr sz="9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писок в 2 колонки ">
  <p:cSld name="CUSTOM_8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0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graphicFrame>
        <p:nvGraphicFramePr>
          <p:cNvPr id="91" name="Google Shape;91;p20"/>
          <p:cNvGraphicFramePr/>
          <p:nvPr/>
        </p:nvGraphicFramePr>
        <p:xfrm>
          <a:off x="655650" y="17458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{67F86677-F069-4C29-8C1D-3D470B11A655}</a:tableStyleId>
              </a:tblPr>
              <a:tblGrid>
                <a:gridCol w="38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1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91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ru" sz="1700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 Описание эксперимента</a:t>
                      </a:r>
                      <a:r>
                        <a:rPr lang="ru" sz="1700" b="1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ru" sz="1700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 Технические детали</a:t>
                      </a:r>
                      <a:endParaRPr sz="1700"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175">
                <a:tc>
                  <a:txBody>
                    <a:bodyPr/>
                    <a:lstStyle/>
                    <a:p>
                      <a:pPr marL="457200" lvl="0" indent="-3238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Roboto"/>
                        <a:buChar char="●"/>
                      </a:pPr>
                      <a:r>
                        <a:rPr lang="ru"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  Гипотеза</a:t>
                      </a:r>
                      <a:endParaRPr sz="15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457200" lvl="0" indent="-3238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Roboto"/>
                        <a:buChar char="●"/>
                      </a:pPr>
                      <a:r>
                        <a:rPr lang="ru"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  Целевая аудитория</a:t>
                      </a:r>
                      <a:endParaRPr sz="15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457200" lvl="0" indent="-3238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Roboto"/>
                        <a:buChar char="●"/>
                      </a:pPr>
                      <a:r>
                        <a:rPr lang="ru"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  Ожидаемый результат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457200" lvl="0" indent="-31750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Roboto"/>
                        <a:buChar char="●"/>
                      </a:pPr>
                      <a:r>
                        <a:rPr lang="ru" sz="17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r>
                        <a:rPr lang="ru"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Реализация</a:t>
                      </a:r>
                      <a:endParaRPr sz="15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457200" lvl="0" indent="-3238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Roboto"/>
                        <a:buChar char="●"/>
                      </a:pPr>
                      <a:r>
                        <a:rPr lang="ru"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Настройки</a:t>
                      </a:r>
                      <a:endParaRPr sz="15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457200" lvl="0" indent="-3238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Roboto"/>
                        <a:buChar char="●"/>
                      </a:pPr>
                      <a:r>
                        <a:rPr lang="ru"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Метрики</a:t>
                      </a:r>
                      <a:endParaRPr sz="15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сылка на источник" type="twoColTx">
  <p:cSld name="TITLE_AND_TWO_COLUMNS"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1"/>
          <p:cNvSpPr txBox="1"/>
          <p:nvPr/>
        </p:nvSpPr>
        <p:spPr>
          <a:xfrm>
            <a:off x="556300" y="4554000"/>
            <a:ext cx="42399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добавьте ссылку на источник</a:t>
            </a:r>
            <a:endParaRPr sz="1100">
              <a:solidFill>
                <a:srgbClr val="013D85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397">
          <p15:clr>
            <a:srgbClr val="FA7B17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подтемой">
  <p:cSld name="MAIN_POINT"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2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1pPr>
            <a:lvl2pPr lvl="1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аблица ">
  <p:cSld name="CUSTOM_1"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3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graphicFrame>
        <p:nvGraphicFramePr>
          <p:cNvPr id="98" name="Google Shape;98;p23"/>
          <p:cNvGraphicFramePr/>
          <p:nvPr/>
        </p:nvGraphicFramePr>
        <p:xfrm>
          <a:off x="608700" y="15936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{67F86677-F069-4C29-8C1D-3D470B11A655}</a:tableStyleId>
              </a:tblPr>
              <a:tblGrid>
                <a:gridCol w="395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03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847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771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061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1">
                        <a:solidFill>
                          <a:srgbClr val="4811C5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Название столбца</a:t>
                      </a:r>
                      <a:endParaRPr sz="1600"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ru" sz="1600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Название столбца</a:t>
                      </a:r>
                      <a:endParaRPr sz="1600"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ru" sz="1600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Название столбца</a:t>
                      </a:r>
                      <a:endParaRPr sz="1600"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Текст нежирным шрифтом</a:t>
                      </a: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Текст нежирным шрифтом</a:t>
                      </a: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ru" sz="13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Текст нежирным шрифтом</a:t>
                      </a:r>
                      <a:endParaRPr sz="13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3.</a:t>
                      </a:r>
                      <a:endParaRPr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4.</a:t>
                      </a:r>
                      <a:endParaRPr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5.</a:t>
                      </a:r>
                      <a:endParaRPr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 плашки + иллюстрация">
  <p:cSld name="SECTION_TITLE_AND_DESCRIPTION"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01" name="Google Shape;101;p24"/>
          <p:cNvSpPr/>
          <p:nvPr/>
        </p:nvSpPr>
        <p:spPr>
          <a:xfrm>
            <a:off x="791625" y="1039150"/>
            <a:ext cx="3640800" cy="705900"/>
          </a:xfrm>
          <a:prstGeom prst="roundRect">
            <a:avLst>
              <a:gd name="adj" fmla="val 16667"/>
            </a:avLst>
          </a:prstGeom>
          <a:solidFill>
            <a:srgbClr val="EEEEEE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2" name="Google Shape;102;p24"/>
          <p:cNvSpPr/>
          <p:nvPr/>
        </p:nvSpPr>
        <p:spPr>
          <a:xfrm>
            <a:off x="791625" y="1904882"/>
            <a:ext cx="3640800" cy="705900"/>
          </a:xfrm>
          <a:prstGeom prst="roundRect">
            <a:avLst>
              <a:gd name="adj" fmla="val 16667"/>
            </a:avLst>
          </a:prstGeom>
          <a:solidFill>
            <a:srgbClr val="EEEEEE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3" name="Google Shape;103;p24"/>
          <p:cNvSpPr/>
          <p:nvPr/>
        </p:nvSpPr>
        <p:spPr>
          <a:xfrm>
            <a:off x="791625" y="2770607"/>
            <a:ext cx="3640800" cy="705900"/>
          </a:xfrm>
          <a:prstGeom prst="roundRect">
            <a:avLst>
              <a:gd name="adj" fmla="val 16667"/>
            </a:avLst>
          </a:prstGeom>
          <a:solidFill>
            <a:srgbClr val="EEEEEE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4" name="Google Shape;104;p24"/>
          <p:cNvSpPr/>
          <p:nvPr/>
        </p:nvSpPr>
        <p:spPr>
          <a:xfrm>
            <a:off x="791625" y="3636339"/>
            <a:ext cx="3640800" cy="705900"/>
          </a:xfrm>
          <a:prstGeom prst="roundRect">
            <a:avLst>
              <a:gd name="adj" fmla="val 16667"/>
            </a:avLst>
          </a:prstGeom>
          <a:solidFill>
            <a:srgbClr val="EEEEEE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05" name="Google Shape;105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5533900" y="1409075"/>
            <a:ext cx="2468700" cy="2468700"/>
          </a:xfrm>
          <a:prstGeom prst="roundRect">
            <a:avLst>
              <a:gd name="adj" fmla="val 16667"/>
            </a:avLst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">
  <p:cSld name="CUSTOM_3"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5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 блока">
  <p:cSld name="CUSTOM_7"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26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10" name="Google Shape;110;p26"/>
          <p:cNvSpPr/>
          <p:nvPr/>
        </p:nvSpPr>
        <p:spPr>
          <a:xfrm>
            <a:off x="932713" y="1748200"/>
            <a:ext cx="2127900" cy="29298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1" name="Google Shape;111;p26"/>
          <p:cNvSpPr/>
          <p:nvPr/>
        </p:nvSpPr>
        <p:spPr>
          <a:xfrm>
            <a:off x="3436420" y="1748200"/>
            <a:ext cx="2127900" cy="29298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2" name="Google Shape;112;p26"/>
          <p:cNvSpPr/>
          <p:nvPr/>
        </p:nvSpPr>
        <p:spPr>
          <a:xfrm>
            <a:off x="5940127" y="1748200"/>
            <a:ext cx="2127900" cy="29298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3" name="Google Shape;113;p26"/>
          <p:cNvSpPr txBox="1"/>
          <p:nvPr/>
        </p:nvSpPr>
        <p:spPr>
          <a:xfrm>
            <a:off x="1073575" y="2074863"/>
            <a:ext cx="18462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Поле для текста</a:t>
            </a:r>
            <a:endParaRPr sz="1100"/>
          </a:p>
        </p:txBody>
      </p:sp>
      <p:sp>
        <p:nvSpPr>
          <p:cNvPr id="114" name="Google Shape;114;p26"/>
          <p:cNvSpPr txBox="1"/>
          <p:nvPr/>
        </p:nvSpPr>
        <p:spPr>
          <a:xfrm>
            <a:off x="3530920" y="2074863"/>
            <a:ext cx="19389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Поле для текста</a:t>
            </a:r>
            <a:endParaRPr/>
          </a:p>
        </p:txBody>
      </p:sp>
      <p:sp>
        <p:nvSpPr>
          <p:cNvPr id="115" name="Google Shape;115;p26"/>
          <p:cNvSpPr txBox="1"/>
          <p:nvPr/>
        </p:nvSpPr>
        <p:spPr>
          <a:xfrm>
            <a:off x="6080975" y="2074863"/>
            <a:ext cx="19389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Поле для текста</a:t>
            </a:r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Определение" type="title">
  <p:cSld name="TITLE"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28"/>
          <p:cNvSpPr txBox="1">
            <a:spLocks noGrp="1"/>
          </p:cNvSpPr>
          <p:nvPr>
            <p:ph type="subTitle" idx="1"/>
          </p:nvPr>
        </p:nvSpPr>
        <p:spPr>
          <a:xfrm>
            <a:off x="944650" y="4350425"/>
            <a:ext cx="77103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2" name="Google Shape;122;p28"/>
          <p:cNvSpPr txBox="1"/>
          <p:nvPr/>
        </p:nvSpPr>
        <p:spPr>
          <a:xfrm>
            <a:off x="549614" y="1802270"/>
            <a:ext cx="7636200" cy="310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2400" b="1">
                <a:solidFill>
                  <a:srgbClr val="9857F3"/>
                </a:solidFill>
                <a:latin typeface="Roboto"/>
                <a:ea typeface="Roboto"/>
                <a:cs typeface="Roboto"/>
                <a:sym typeface="Roboto"/>
              </a:rPr>
              <a:t>Определение</a:t>
            </a:r>
            <a:r>
              <a:rPr lang="ru" sz="24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 – </a:t>
            </a:r>
            <a:r>
              <a:rPr lang="ru" sz="2400">
                <a:latin typeface="Roboto"/>
                <a:ea typeface="Roboto"/>
                <a:cs typeface="Roboto"/>
                <a:sym typeface="Roboto"/>
              </a:rPr>
              <a:t>описание данных в виде набора сущностей, отношений между ними, атрибутов сущностей, их типов данных, соглашений об именовании и правил проверки целостностей</a:t>
            </a:r>
            <a:endParaRPr sz="24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Важный тезис крупным шрифтом " type="secHead">
  <p:cSld name="SECTION_HEADER"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9"/>
          <p:cNvSpPr txBox="1">
            <a:spLocks noGrp="1"/>
          </p:cNvSpPr>
          <p:nvPr>
            <p:ph type="title"/>
          </p:nvPr>
        </p:nvSpPr>
        <p:spPr>
          <a:xfrm>
            <a:off x="500550" y="1940306"/>
            <a:ext cx="79353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25" name="Google Shape;125;p2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екст + картинка" type="tx">
  <p:cSld name="TITLE_AND_BODY"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3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28" name="Google Shape;128;p30"/>
          <p:cNvSpPr txBox="1"/>
          <p:nvPr/>
        </p:nvSpPr>
        <p:spPr>
          <a:xfrm>
            <a:off x="630550" y="1572900"/>
            <a:ext cx="3906300" cy="170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3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Главная мысль </a:t>
            </a:r>
            <a:endParaRPr sz="3300" b="1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3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слайда, тезис, определение</a:t>
            </a:r>
            <a:endParaRPr sz="3300" b="1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29" name="Google Shape;129;p30"/>
          <p:cNvPicPr preferRelativeResize="0"/>
          <p:nvPr/>
        </p:nvPicPr>
        <p:blipFill rotWithShape="1">
          <a:blip r:embed="rId2">
            <a:alphaModFix/>
          </a:blip>
          <a:srcRect t="10742" b="10734"/>
          <a:stretch/>
        </p:blipFill>
        <p:spPr>
          <a:xfrm>
            <a:off x="5581050" y="867901"/>
            <a:ext cx="2868000" cy="3118500"/>
          </a:xfrm>
          <a:prstGeom prst="roundRect">
            <a:avLst>
              <a:gd name="adj" fmla="val 16667"/>
            </a:avLst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ема вебинара" type="twoColTx">
  <p:cSld name="TITLE_AND_TWO_COLUMNS"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3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397">
          <p15:clr>
            <a:srgbClr val="FA7B17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ительный слайд">
  <p:cSld name="MAIN_POINT"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О себе">
  <p:cSld name="CUSTOM_1"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33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+описание">
  <p:cSld name="SECTION_TITLE_AND_DESCRIPTION"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4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34"/>
          <p:cNvSpPr txBox="1">
            <a:spLocks noGrp="1"/>
          </p:cNvSpPr>
          <p:nvPr>
            <p:ph type="title"/>
          </p:nvPr>
        </p:nvSpPr>
        <p:spPr>
          <a:xfrm>
            <a:off x="609075" y="12208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138" name="Google Shape;138;p34"/>
          <p:cNvSpPr txBox="1">
            <a:spLocks noGrp="1"/>
          </p:cNvSpPr>
          <p:nvPr>
            <p:ph type="subTitle" idx="1"/>
          </p:nvPr>
        </p:nvSpPr>
        <p:spPr>
          <a:xfrm>
            <a:off x="609075" y="2916213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  <p:sp>
        <p:nvSpPr>
          <p:cNvPr id="139" name="Google Shape;139;p34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36550">
              <a:spcBef>
                <a:spcPts val="0"/>
              </a:spcBef>
              <a:spcAft>
                <a:spcPts val="0"/>
              </a:spcAft>
              <a:buSzPts val="1700"/>
              <a:buChar char="●"/>
              <a:defRPr/>
            </a:lvl1pPr>
            <a:lvl2pPr marL="914400" lvl="1" indent="-32385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2pPr>
            <a:lvl3pPr marL="1371600" lvl="2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3pPr>
            <a:lvl4pPr marL="1828800" lvl="3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4pPr>
            <a:lvl5pPr marL="2286000" lvl="4" indent="-31115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5pPr>
            <a:lvl6pPr marL="2743200" lvl="5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6pPr>
            <a:lvl7pPr marL="3200400" lvl="6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7pPr>
            <a:lvl8pPr marL="3657600" lvl="7" indent="-31115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8pPr>
            <a:lvl9pPr marL="4114800" lvl="8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9pPr>
          </a:lstStyle>
          <a:p>
            <a:endParaRPr/>
          </a:p>
        </p:txBody>
      </p:sp>
      <p:sp>
        <p:nvSpPr>
          <p:cNvPr id="140" name="Google Shape;140;p3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3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">
  <p:cSld name="CUSTOM_3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36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кодом 1">
  <p:cSld name="CUSTOM_2"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37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47" name="Google Shape;147;p37"/>
          <p:cNvSpPr/>
          <p:nvPr/>
        </p:nvSpPr>
        <p:spPr>
          <a:xfrm>
            <a:off x="606200" y="1441163"/>
            <a:ext cx="7938600" cy="35649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8" name="Google Shape;148;p37"/>
          <p:cNvSpPr txBox="1">
            <a:spLocks noGrp="1"/>
          </p:cNvSpPr>
          <p:nvPr>
            <p:ph type="subTitle" idx="1"/>
          </p:nvPr>
        </p:nvSpPr>
        <p:spPr>
          <a:xfrm>
            <a:off x="743675" y="1496071"/>
            <a:ext cx="82263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Courier New"/>
              <a:buNone/>
              <a:defRPr sz="1100">
                <a:latin typeface="Courier New"/>
                <a:ea typeface="Courier New"/>
                <a:cs typeface="Courier New"/>
                <a:sym typeface="Courier New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кодом 2">
  <p:cSld name="CUSTOM_2_1"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38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КОД+ТЕКСТ 1">
  <p:cSld name="CUSTOM_4"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39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53" name="Google Shape;153;p39"/>
          <p:cNvSpPr/>
          <p:nvPr/>
        </p:nvSpPr>
        <p:spPr>
          <a:xfrm>
            <a:off x="606200" y="2144231"/>
            <a:ext cx="7938600" cy="24645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КОД+ТЕКСТ 2">
  <p:cSld name="CUSTOM_4_1"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40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56" name="Google Shape;156;p40"/>
          <p:cNvSpPr/>
          <p:nvPr/>
        </p:nvSpPr>
        <p:spPr>
          <a:xfrm>
            <a:off x="362300" y="1364963"/>
            <a:ext cx="4748700" cy="35649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7" name="Google Shape;157;p40"/>
          <p:cNvSpPr txBox="1">
            <a:spLocks noGrp="1"/>
          </p:cNvSpPr>
          <p:nvPr>
            <p:ph type="subTitle" idx="1"/>
          </p:nvPr>
        </p:nvSpPr>
        <p:spPr>
          <a:xfrm>
            <a:off x="500550" y="1474819"/>
            <a:ext cx="44286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Courier New"/>
              <a:buNone/>
              <a:defRPr sz="1300">
                <a:latin typeface="Courier New"/>
                <a:ea typeface="Courier New"/>
                <a:cs typeface="Courier New"/>
                <a:sym typeface="Courier New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  <p:sp>
        <p:nvSpPr>
          <p:cNvPr id="158" name="Google Shape;158;p40"/>
          <p:cNvSpPr txBox="1">
            <a:spLocks noGrp="1"/>
          </p:cNvSpPr>
          <p:nvPr>
            <p:ph type="subTitle" idx="2"/>
          </p:nvPr>
        </p:nvSpPr>
        <p:spPr>
          <a:xfrm>
            <a:off x="5555275" y="1474819"/>
            <a:ext cx="3151200" cy="32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>
                <a:solidFill>
                  <a:schemeClr val="dk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>
                <a:solidFill>
                  <a:schemeClr val="dk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>
                <a:solidFill>
                  <a:schemeClr val="dk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>
                <a:solidFill>
                  <a:schemeClr val="dk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>
                <a:solidFill>
                  <a:schemeClr val="dk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>
                <a:solidFill>
                  <a:schemeClr val="dk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>
                <a:solidFill>
                  <a:schemeClr val="dk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>
  <p:cSld name="TITLE_AND_BODY_1"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41"/>
          <p:cNvSpPr txBox="1">
            <a:spLocks noGrp="1"/>
          </p:cNvSpPr>
          <p:nvPr>
            <p:ph type="title"/>
          </p:nvPr>
        </p:nvSpPr>
        <p:spPr>
          <a:xfrm>
            <a:off x="500550" y="1783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61" name="Google Shape;161;p41"/>
          <p:cNvSpPr txBox="1">
            <a:spLocks noGrp="1"/>
          </p:cNvSpPr>
          <p:nvPr>
            <p:ph type="body" idx="1"/>
          </p:nvPr>
        </p:nvSpPr>
        <p:spPr>
          <a:xfrm>
            <a:off x="500550" y="1426469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2385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500"/>
              <a:buChar char="●"/>
              <a:defRPr sz="1500"/>
            </a:lvl1pPr>
            <a:lvl2pPr marL="914400" lvl="1" indent="-31115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○"/>
              <a:defRPr sz="1300"/>
            </a:lvl2pPr>
            <a:lvl3pPr marL="1371600" lvl="2" indent="-31115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3pPr>
            <a:lvl4pPr marL="1828800" lvl="3" indent="-31115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●"/>
              <a:defRPr sz="1300"/>
            </a:lvl4pPr>
            <a:lvl5pPr marL="2286000" lvl="4" indent="-31115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00"/>
              <a:buChar char="○"/>
              <a:defRPr sz="1300"/>
            </a:lvl5pPr>
            <a:lvl6pPr marL="2743200" lvl="5" indent="-31115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6pPr>
            <a:lvl7pPr marL="3200400" lvl="6" indent="-31115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●"/>
              <a:defRPr sz="1300"/>
            </a:lvl7pPr>
            <a:lvl8pPr marL="3657600" lvl="7" indent="-31115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○"/>
              <a:defRPr sz="1300"/>
            </a:lvl8pPr>
            <a:lvl9pPr marL="4114800" lvl="8" indent="-31115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9pPr>
          </a:lstStyle>
          <a:p>
            <a:endParaRPr/>
          </a:p>
        </p:txBody>
      </p:sp>
      <p:sp>
        <p:nvSpPr>
          <p:cNvPr id="162" name="Google Shape;162;p4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Ваш макет 1">
  <p:cSld name="CUSTOM_5"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42"/>
          <p:cNvSpPr txBox="1">
            <a:spLocks noGrp="1"/>
          </p:cNvSpPr>
          <p:nvPr>
            <p:ph type="title"/>
          </p:nvPr>
        </p:nvSpPr>
        <p:spPr>
          <a:xfrm>
            <a:off x="500550" y="2545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>
  <p:cSld name="Title and Content"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43"/>
          <p:cNvSpPr txBox="1">
            <a:spLocks noGrp="1"/>
          </p:cNvSpPr>
          <p:nvPr>
            <p:ph type="sldNum" idx="12"/>
          </p:nvPr>
        </p:nvSpPr>
        <p:spPr>
          <a:xfrm>
            <a:off x="6583680" y="4783455"/>
            <a:ext cx="2103000" cy="15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1pPr>
            <a:lvl2pPr lvl="1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2pPr>
            <a:lvl3pPr lvl="2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3pPr>
            <a:lvl4pPr lvl="3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4pPr>
            <a:lvl5pPr lvl="4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5pPr>
            <a:lvl6pPr lvl="5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6pPr>
            <a:lvl7pPr lvl="6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7pPr>
            <a:lvl8pPr lvl="7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8pPr>
            <a:lvl9pPr lvl="8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>
              <a:solidFill>
                <a:schemeClr val="dk2"/>
              </a:solidFill>
            </a:endParaRPr>
          </a:p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ительный слайд-синий">
  <p:cSld name="MAIN_POINT_2"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4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2.xml"/><Relationship Id="rId3" Type="http://schemas.openxmlformats.org/officeDocument/2006/relationships/slideLayout" Target="../slideLayouts/slideLayout17.xml"/><Relationship Id="rId7" Type="http://schemas.openxmlformats.org/officeDocument/2006/relationships/slideLayout" Target="../slideLayouts/slideLayout21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5.xml"/><Relationship Id="rId6" Type="http://schemas.openxmlformats.org/officeDocument/2006/relationships/slideLayout" Target="../slideLayouts/slideLayout20.xml"/><Relationship Id="rId11" Type="http://schemas.openxmlformats.org/officeDocument/2006/relationships/theme" Target="../theme/theme2.xml"/><Relationship Id="rId5" Type="http://schemas.openxmlformats.org/officeDocument/2006/relationships/slideLayout" Target="../slideLayouts/slideLayout19.xml"/><Relationship Id="rId10" Type="http://schemas.openxmlformats.org/officeDocument/2006/relationships/slideLayout" Target="../slideLayouts/slideLayout24.xml"/><Relationship Id="rId4" Type="http://schemas.openxmlformats.org/officeDocument/2006/relationships/slideLayout" Target="../slideLayouts/slideLayout18.xml"/><Relationship Id="rId9" Type="http://schemas.openxmlformats.org/officeDocument/2006/relationships/slideLayout" Target="../slideLayouts/slideLayout23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2.xml"/><Relationship Id="rId13" Type="http://schemas.openxmlformats.org/officeDocument/2006/relationships/slideLayout" Target="../slideLayouts/slideLayout37.xml"/><Relationship Id="rId18" Type="http://schemas.openxmlformats.org/officeDocument/2006/relationships/theme" Target="../theme/theme3.xml"/><Relationship Id="rId3" Type="http://schemas.openxmlformats.org/officeDocument/2006/relationships/slideLayout" Target="../slideLayouts/slideLayout27.xml"/><Relationship Id="rId7" Type="http://schemas.openxmlformats.org/officeDocument/2006/relationships/slideLayout" Target="../slideLayouts/slideLayout31.xml"/><Relationship Id="rId12" Type="http://schemas.openxmlformats.org/officeDocument/2006/relationships/slideLayout" Target="../slideLayouts/slideLayout36.xml"/><Relationship Id="rId17" Type="http://schemas.openxmlformats.org/officeDocument/2006/relationships/slideLayout" Target="../slideLayouts/slideLayout41.xml"/><Relationship Id="rId2" Type="http://schemas.openxmlformats.org/officeDocument/2006/relationships/slideLayout" Target="../slideLayouts/slideLayout26.xml"/><Relationship Id="rId16" Type="http://schemas.openxmlformats.org/officeDocument/2006/relationships/slideLayout" Target="../slideLayouts/slideLayout40.xml"/><Relationship Id="rId1" Type="http://schemas.openxmlformats.org/officeDocument/2006/relationships/slideLayout" Target="../slideLayouts/slideLayout25.xml"/><Relationship Id="rId6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35.xml"/><Relationship Id="rId5" Type="http://schemas.openxmlformats.org/officeDocument/2006/relationships/slideLayout" Target="../slideLayouts/slideLayout29.xml"/><Relationship Id="rId15" Type="http://schemas.openxmlformats.org/officeDocument/2006/relationships/slideLayout" Target="../slideLayouts/slideLayout39.xml"/><Relationship Id="rId10" Type="http://schemas.openxmlformats.org/officeDocument/2006/relationships/slideLayout" Target="../slideLayouts/slideLayout34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28.xml"/><Relationship Id="rId9" Type="http://schemas.openxmlformats.org/officeDocument/2006/relationships/slideLayout" Target="../slideLayouts/slideLayout33.xml"/><Relationship Id="rId14" Type="http://schemas.openxmlformats.org/officeDocument/2006/relationships/slideLayout" Target="../slideLayouts/slideLayout3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16">
            <a:alphaModFix/>
          </a:blip>
          <a:stretch>
            <a:fillRect/>
          </a:stretch>
        </a:blip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/>
              <a:buNone/>
              <a:defRPr sz="31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24350" y="1578869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65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238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12">
            <a:alphaModFix/>
          </a:blip>
          <a:stretch>
            <a:fillRect/>
          </a:stretch>
        </a:blipFill>
        <a:effectLst/>
      </p:bgPr>
    </p:bg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6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67" name="Google Shape;67;p16"/>
          <p:cNvSpPr txBox="1">
            <a:spLocks noGrp="1"/>
          </p:cNvSpPr>
          <p:nvPr>
            <p:ph type="body" idx="1"/>
          </p:nvPr>
        </p:nvSpPr>
        <p:spPr>
          <a:xfrm>
            <a:off x="424350" y="1578869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lvl1pPr marL="457200" lvl="0" indent="-3365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238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■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●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○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■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●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○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■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68" name="Google Shape;68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19">
            <a:alphaModFix/>
          </a:blip>
          <a:stretch>
            <a:fillRect/>
          </a:stretch>
        </a:blipFill>
        <a:effectLst/>
      </p:bgPr>
    </p:bg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7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/>
              <a:buNone/>
              <a:defRPr sz="31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118" name="Google Shape;118;p27"/>
          <p:cNvSpPr txBox="1">
            <a:spLocks noGrp="1"/>
          </p:cNvSpPr>
          <p:nvPr>
            <p:ph type="body" idx="1"/>
          </p:nvPr>
        </p:nvSpPr>
        <p:spPr>
          <a:xfrm>
            <a:off x="424350" y="1578869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65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238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119" name="Google Shape;119;p2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72" r:id="rId1"/>
    <p:sldLayoutId id="2147483673" r:id="rId2"/>
    <p:sldLayoutId id="2147483674" r:id="rId3"/>
    <p:sldLayoutId id="2147483675" r:id="rId4"/>
    <p:sldLayoutId id="2147483676" r:id="rId5"/>
    <p:sldLayoutId id="2147483677" r:id="rId6"/>
    <p:sldLayoutId id="2147483678" r:id="rId7"/>
    <p:sldLayoutId id="2147483679" r:id="rId8"/>
    <p:sldLayoutId id="2147483680" r:id="rId9"/>
    <p:sldLayoutId id="2147483681" r:id="rId10"/>
    <p:sldLayoutId id="2147483682" r:id="rId11"/>
    <p:sldLayoutId id="2147483683" r:id="rId12"/>
    <p:sldLayoutId id="2147483684" r:id="rId13"/>
    <p:sldLayoutId id="2147483685" r:id="rId14"/>
    <p:sldLayoutId id="2147483686" r:id="rId15"/>
    <p:sldLayoutId id="2147483687" r:id="rId16"/>
    <p:sldLayoutId id="2147483688" r:id="rId17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6.xml"/><Relationship Id="rId4" Type="http://schemas.openxmlformats.org/officeDocument/2006/relationships/image" Target="../media/image1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0.png"/><Relationship Id="rId4" Type="http://schemas.openxmlformats.org/officeDocument/2006/relationships/image" Target="../media/image4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0.png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54.png"/><Relationship Id="rId5" Type="http://schemas.openxmlformats.org/officeDocument/2006/relationships/image" Target="../media/image53.png"/><Relationship Id="rId4" Type="http://schemas.openxmlformats.org/officeDocument/2006/relationships/image" Target="../media/image5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2.xml"/><Relationship Id="rId4" Type="http://schemas.openxmlformats.org/officeDocument/2006/relationships/image" Target="../media/image5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2" name="Google Shape;372;p92"/>
          <p:cNvPicPr preferRelativeResize="0"/>
          <p:nvPr/>
        </p:nvPicPr>
        <p:blipFill rotWithShape="1">
          <a:blip r:embed="rId3">
            <a:alphaModFix/>
          </a:blip>
          <a:srcRect t="5495" b="38716"/>
          <a:stretch/>
        </p:blipFill>
        <p:spPr>
          <a:xfrm>
            <a:off x="-75950" y="0"/>
            <a:ext cx="921995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73" name="Google Shape;373;p92"/>
          <p:cNvSpPr/>
          <p:nvPr/>
        </p:nvSpPr>
        <p:spPr>
          <a:xfrm>
            <a:off x="433125" y="553500"/>
            <a:ext cx="4161600" cy="415500"/>
          </a:xfrm>
          <a:prstGeom prst="roundRect">
            <a:avLst>
              <a:gd name="adj" fmla="val 16667"/>
            </a:avLst>
          </a:prstGeom>
          <a:solidFill>
            <a:srgbClr val="740FB4"/>
          </a:solidFill>
          <a:ln>
            <a:noFill/>
          </a:ln>
          <a:effectLst>
            <a:outerShdw blurRad="200025" dist="28575" dir="5400000" algn="bl" rotWithShape="0">
              <a:srgbClr val="000000">
                <a:alpha val="28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74" name="Google Shape;374;p92"/>
          <p:cNvSpPr txBox="1"/>
          <p:nvPr/>
        </p:nvSpPr>
        <p:spPr>
          <a:xfrm>
            <a:off x="225861" y="1250655"/>
            <a:ext cx="7584300" cy="33393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4100" b="1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Организация отказоустойчивой сети предприятия с географически распределенными ресурсами</a:t>
            </a:r>
          </a:p>
        </p:txBody>
      </p:sp>
      <p:sp>
        <p:nvSpPr>
          <p:cNvPr id="375" name="Google Shape;375;p92"/>
          <p:cNvSpPr txBox="1"/>
          <p:nvPr/>
        </p:nvSpPr>
        <p:spPr>
          <a:xfrm>
            <a:off x="572150" y="553500"/>
            <a:ext cx="43413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Roboto Medium"/>
                <a:ea typeface="Roboto Medium"/>
                <a:cs typeface="Roboto Medium"/>
                <a:sym typeface="Roboto Medium"/>
              </a:rPr>
              <a:t>Network Engineer. Professional.</a:t>
            </a:r>
            <a:endParaRPr lang="en-US" sz="100" dirty="0">
              <a:latin typeface="Roboto Medium"/>
              <a:ea typeface="Roboto Medium"/>
              <a:cs typeface="Roboto Medium"/>
              <a:sym typeface="Roboto Medium"/>
            </a:endParaRPr>
          </a:p>
        </p:txBody>
      </p:sp>
      <p:pic>
        <p:nvPicPr>
          <p:cNvPr id="376" name="Google Shape;376;p9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913700" y="268875"/>
            <a:ext cx="822175" cy="284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77" name="Google Shape;377;p92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941234" y="1250655"/>
            <a:ext cx="1403026" cy="23630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93"/>
          <p:cNvSpPr txBox="1">
            <a:spLocks noGrp="1"/>
          </p:cNvSpPr>
          <p:nvPr>
            <p:ph type="title"/>
          </p:nvPr>
        </p:nvSpPr>
        <p:spPr>
          <a:xfrm>
            <a:off x="744125" y="1415974"/>
            <a:ext cx="7935300" cy="141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4000">
                <a:solidFill>
                  <a:schemeClr val="dk1"/>
                </a:solidFill>
              </a:rPr>
              <a:t>Меня хорошо видно</a:t>
            </a:r>
            <a:endParaRPr sz="40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4000">
                <a:solidFill>
                  <a:schemeClr val="dk1"/>
                </a:solidFill>
              </a:rPr>
              <a:t>&amp; слышно?</a:t>
            </a:r>
            <a:endParaRPr sz="4000">
              <a:solidFill>
                <a:schemeClr val="dk1"/>
              </a:solidFill>
            </a:endParaRPr>
          </a:p>
        </p:txBody>
      </p:sp>
      <p:pic>
        <p:nvPicPr>
          <p:cNvPr id="383" name="Google Shape;383;p9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44062" y="3841075"/>
            <a:ext cx="545712" cy="545710"/>
          </a:xfrm>
          <a:prstGeom prst="rect">
            <a:avLst/>
          </a:prstGeom>
          <a:noFill/>
          <a:ln>
            <a:noFill/>
          </a:ln>
        </p:spPr>
      </p:pic>
      <p:pic>
        <p:nvPicPr>
          <p:cNvPr id="384" name="Google Shape;384;p9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5575" y="3890890"/>
            <a:ext cx="537262" cy="5372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Google Shape;389;p94"/>
          <p:cNvSpPr txBox="1">
            <a:spLocks noGrp="1"/>
          </p:cNvSpPr>
          <p:nvPr>
            <p:ph type="title"/>
          </p:nvPr>
        </p:nvSpPr>
        <p:spPr>
          <a:xfrm>
            <a:off x="311700" y="431080"/>
            <a:ext cx="8520600" cy="1841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3000" dirty="0"/>
              <a:t>Защита проекта</a:t>
            </a:r>
            <a:endParaRPr sz="30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3000" dirty="0"/>
              <a:t>Тема:</a:t>
            </a:r>
            <a:r>
              <a:rPr lang="ru-RU" sz="3000" dirty="0"/>
              <a:t>Организация отказоустойчивой сети предприятия с географически распределенными ресурсами</a:t>
            </a:r>
            <a:r>
              <a:rPr lang="ru" sz="3000" dirty="0"/>
              <a:t> </a:t>
            </a:r>
            <a:endParaRPr sz="30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91" name="Google Shape;391;p94"/>
          <p:cNvSpPr txBox="1"/>
          <p:nvPr/>
        </p:nvSpPr>
        <p:spPr>
          <a:xfrm>
            <a:off x="3899475" y="2746326"/>
            <a:ext cx="3701700" cy="37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300" b="1" dirty="0">
                <a:solidFill>
                  <a:srgbClr val="9857F3"/>
                </a:solidFill>
                <a:latin typeface="Roboto"/>
                <a:ea typeface="Roboto"/>
                <a:cs typeface="Roboto"/>
                <a:sym typeface="Roboto"/>
              </a:rPr>
              <a:t>Алексей Вельдин</a:t>
            </a:r>
            <a:endParaRPr sz="2300" b="1" dirty="0">
              <a:solidFill>
                <a:srgbClr val="9857F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92" name="Google Shape;392;p94"/>
          <p:cNvSpPr txBox="1"/>
          <p:nvPr/>
        </p:nvSpPr>
        <p:spPr>
          <a:xfrm>
            <a:off x="3899475" y="3122213"/>
            <a:ext cx="5337300" cy="4247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dirty="0">
                <a:latin typeface="Roboto Medium"/>
                <a:ea typeface="Roboto Medium"/>
                <a:cs typeface="Roboto Medium"/>
                <a:sym typeface="Roboto Medium"/>
              </a:rPr>
              <a:t>Системный администратор 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ABCBA01-CB4A-08E7-7138-13643D5F9F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285" y="2501373"/>
            <a:ext cx="2034981" cy="2185102"/>
          </a:xfrm>
          <a:prstGeom prst="ellipse">
            <a:avLst/>
          </a:prstGeom>
          <a:ln>
            <a:noFill/>
          </a:ln>
          <a:effectLst>
            <a:softEdge rad="112500"/>
          </a:effec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95"/>
          <p:cNvSpPr txBox="1">
            <a:spLocks noGrp="1"/>
          </p:cNvSpPr>
          <p:nvPr>
            <p:ph type="title"/>
          </p:nvPr>
        </p:nvSpPr>
        <p:spPr>
          <a:xfrm>
            <a:off x="538550" y="348974"/>
            <a:ext cx="8520600" cy="66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План защиты</a:t>
            </a:r>
            <a:endParaRPr/>
          </a:p>
        </p:txBody>
      </p:sp>
      <p:sp>
        <p:nvSpPr>
          <p:cNvPr id="398" name="Google Shape;398;p95"/>
          <p:cNvSpPr/>
          <p:nvPr/>
        </p:nvSpPr>
        <p:spPr>
          <a:xfrm>
            <a:off x="1187088" y="1536294"/>
            <a:ext cx="3384900" cy="3762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Цель и задачи проекта</a:t>
            </a:r>
            <a:endParaRPr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00" name="Google Shape;400;p95"/>
          <p:cNvSpPr/>
          <p:nvPr/>
        </p:nvSpPr>
        <p:spPr>
          <a:xfrm>
            <a:off x="1187088" y="2108536"/>
            <a:ext cx="3384900" cy="3762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Что получилось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01" name="Google Shape;401;p95"/>
          <p:cNvSpPr/>
          <p:nvPr/>
        </p:nvSpPr>
        <p:spPr>
          <a:xfrm>
            <a:off x="1187088" y="2703085"/>
            <a:ext cx="3384900" cy="3762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Выводы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03" name="Google Shape;403;p95"/>
          <p:cNvCxnSpPr>
            <a:cxnSpLocks/>
            <a:endCxn id="400" idx="1"/>
          </p:cNvCxnSpPr>
          <p:nvPr/>
        </p:nvCxnSpPr>
        <p:spPr>
          <a:xfrm>
            <a:off x="1187088" y="1716452"/>
            <a:ext cx="600" cy="580200"/>
          </a:xfrm>
          <a:prstGeom prst="bentConnector3">
            <a:avLst>
              <a:gd name="adj1" fmla="val -39687500"/>
            </a:avLst>
          </a:prstGeom>
          <a:noFill/>
          <a:ln w="9525" cap="flat" cmpd="sng">
            <a:solidFill>
              <a:srgbClr val="9857F3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404" name="Google Shape;404;p95"/>
          <p:cNvCxnSpPr>
            <a:cxnSpLocks/>
          </p:cNvCxnSpPr>
          <p:nvPr/>
        </p:nvCxnSpPr>
        <p:spPr>
          <a:xfrm>
            <a:off x="1186488" y="2296611"/>
            <a:ext cx="600" cy="594600"/>
          </a:xfrm>
          <a:prstGeom prst="bentConnector3">
            <a:avLst>
              <a:gd name="adj1" fmla="val -39687500"/>
            </a:avLst>
          </a:prstGeom>
          <a:noFill/>
          <a:ln w="9525" cap="flat" cmpd="sng">
            <a:solidFill>
              <a:srgbClr val="9857F3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405" name="Google Shape;405;p95"/>
          <p:cNvCxnSpPr>
            <a:stCxn id="401" idx="1"/>
            <a:endCxn id="406" idx="1"/>
          </p:cNvCxnSpPr>
          <p:nvPr/>
        </p:nvCxnSpPr>
        <p:spPr>
          <a:xfrm>
            <a:off x="1187088" y="2891185"/>
            <a:ext cx="600" cy="526800"/>
          </a:xfrm>
          <a:prstGeom prst="bentConnector3">
            <a:avLst>
              <a:gd name="adj1" fmla="val -39687500"/>
            </a:avLst>
          </a:prstGeom>
          <a:noFill/>
          <a:ln w="9525" cap="flat" cmpd="sng">
            <a:solidFill>
              <a:srgbClr val="9857F3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406" name="Google Shape;406;p95"/>
          <p:cNvSpPr/>
          <p:nvPr/>
        </p:nvSpPr>
        <p:spPr>
          <a:xfrm>
            <a:off x="1187100" y="3229735"/>
            <a:ext cx="3384900" cy="3762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Вопросы и рекомендации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p96"/>
          <p:cNvSpPr txBox="1"/>
          <p:nvPr/>
        </p:nvSpPr>
        <p:spPr>
          <a:xfrm>
            <a:off x="560500" y="324881"/>
            <a:ext cx="8520600" cy="130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000" b="1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Цел</a:t>
            </a:r>
            <a:r>
              <a:rPr lang="ru" sz="3000" b="1">
                <a:latin typeface="Roboto"/>
                <a:ea typeface="Roboto"/>
                <a:cs typeface="Roboto"/>
                <a:sym typeface="Roboto"/>
              </a:rPr>
              <a:t>ь и задачи</a:t>
            </a:r>
            <a:r>
              <a:rPr lang="ru" sz="3000" b="1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 проекта</a:t>
            </a:r>
            <a:endParaRPr sz="3000" b="1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412" name="Google Shape;412;p96"/>
          <p:cNvGraphicFramePr/>
          <p:nvPr>
            <p:extLst>
              <p:ext uri="{D42A27DB-BD31-4B8C-83A1-F6EECF244321}">
                <p14:modId xmlns:p14="http://schemas.microsoft.com/office/powerpoint/2010/main" val="2997904812"/>
              </p:ext>
            </p:extLst>
          </p:nvPr>
        </p:nvGraphicFramePr>
        <p:xfrm>
          <a:off x="952500" y="2382125"/>
          <a:ext cx="7239000" cy="2150722"/>
        </p:xfrm>
        <a:graphic>
          <a:graphicData uri="http://schemas.openxmlformats.org/drawingml/2006/table">
            <a:tbl>
              <a:tblPr>
                <a:noFill/>
                <a:tableStyleId>{67F86677-F069-4C29-8C1D-3D470B11A655}</a:tableStyleId>
              </a:tblPr>
              <a:tblGrid>
                <a:gridCol w="489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sz="1600"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Спроектировать сеть предприятия с распределенными ресурсами</a:t>
                      </a:r>
                      <a:endParaRPr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sz="1600"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Обеспечить отказоустойчивый доступ к ресурсам</a:t>
                      </a:r>
                      <a:endParaRPr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3.</a:t>
                      </a:r>
                      <a:endParaRPr sz="1600"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ru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Смоделировать схему и настроить</a:t>
                      </a:r>
                      <a:endParaRPr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4.</a:t>
                      </a:r>
                      <a:endParaRPr sz="1600"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ru-RU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Закрепить знания</a:t>
                      </a: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dirty="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13" name="Google Shape;413;p96"/>
          <p:cNvSpPr/>
          <p:nvPr/>
        </p:nvSpPr>
        <p:spPr>
          <a:xfrm>
            <a:off x="1628250" y="1386300"/>
            <a:ext cx="5887500" cy="6621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dirty="0">
                <a:solidFill>
                  <a:schemeClr val="dk1"/>
                </a:solidFill>
                <a:latin typeface="Roboto Medium"/>
                <a:ea typeface="Roboto Medium"/>
                <a:cs typeface="Roboto Medium"/>
                <a:sym typeface="Roboto Medium"/>
              </a:rPr>
              <a:t>Цель проекта: </a:t>
            </a:r>
            <a:r>
              <a:rPr lang="ru-RU" sz="1500" dirty="0">
                <a:solidFill>
                  <a:schemeClr val="dk1"/>
                </a:solidFill>
                <a:latin typeface="Roboto Medium"/>
                <a:ea typeface="Roboto Medium"/>
                <a:cs typeface="Roboto Medium"/>
                <a:sym typeface="Roboto Medium"/>
              </a:rPr>
              <a:t>закрепить знания, полученные при прохождении курса</a:t>
            </a:r>
            <a:endParaRPr sz="1500" dirty="0">
              <a:latin typeface="Roboto Medium"/>
              <a:ea typeface="Roboto Medium"/>
              <a:cs typeface="Roboto Medium"/>
              <a:sym typeface="Roboto Medium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A4A87B5-E790-0804-C991-BC7F2A5930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5773" y="749395"/>
            <a:ext cx="7057589" cy="439410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2B08F1F-07EB-A17D-E8D8-0409C7649D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3675" y="303223"/>
            <a:ext cx="8520600" cy="1095900"/>
          </a:xfrm>
        </p:spPr>
        <p:txBody>
          <a:bodyPr/>
          <a:lstStyle/>
          <a:p>
            <a:r>
              <a:rPr lang="ru-RU" dirty="0"/>
              <a:t>Концептуальная схема</a:t>
            </a:r>
          </a:p>
        </p:txBody>
      </p:sp>
    </p:spTree>
    <p:extLst>
      <p:ext uri="{BB962C8B-B14F-4D97-AF65-F5344CB8AC3E}">
        <p14:creationId xmlns:p14="http://schemas.microsoft.com/office/powerpoint/2010/main" val="41698229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a network&#10;&#10;AI-generated content may be incorrect.">
            <a:extLst>
              <a:ext uri="{FF2B5EF4-FFF2-40B4-BE49-F238E27FC236}">
                <a16:creationId xmlns:a16="http://schemas.microsoft.com/office/drawing/2014/main" id="{629EBFA8-DA68-5C6A-E40A-D7B3BEA700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0100" y="330724"/>
            <a:ext cx="6323800" cy="4674687"/>
          </a:xfrm>
          <a:prstGeom prst="rect">
            <a:avLst/>
          </a:prstGeom>
        </p:spPr>
      </p:pic>
      <p:sp>
        <p:nvSpPr>
          <p:cNvPr id="430" name="Google Shape;430;p98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000" dirty="0"/>
              <a:t>Топология</a:t>
            </a:r>
            <a:endParaRPr sz="3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29802605-23E6-EF5C-CDCA-147FAC9F99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81891"/>
            <a:ext cx="3890835" cy="289447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D9606C4-E98A-28B6-A04F-6A8D859C98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IGP Office 1</a:t>
            </a:r>
            <a:endParaRPr lang="ru-RU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4AC9B86-76E1-7B2A-8360-96A2AFF0CF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45131" y="602215"/>
            <a:ext cx="3747584" cy="191423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57D1E95-5713-5EB5-10C6-D1AC333E36D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45131" y="2571750"/>
            <a:ext cx="2629486" cy="24443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25837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2C1555CC-385D-21ED-4B3E-54B473DAA5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018" y="1095982"/>
            <a:ext cx="3242471" cy="272792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8F391B5-1A14-461C-8974-B11B9B4A5B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5154" y="1139144"/>
            <a:ext cx="2594600" cy="264093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05F8270-C9F3-0113-8800-B517E145ED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IGP Office 2</a:t>
            </a:r>
            <a:endParaRPr lang="ru-RU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2AC6826-E3B1-3781-8E71-3A51E95E1D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97912" y="3923668"/>
            <a:ext cx="2695682" cy="61860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AA702D2-4649-60B8-445B-27B6D3913C4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81187" y="878674"/>
            <a:ext cx="2839963" cy="96884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4979F3D-5B0C-2C3E-FF13-FE4E44844BA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81187" y="2096933"/>
            <a:ext cx="2891233" cy="20166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29292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EE9007-43AD-AF5C-81B8-1545419B94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IGP ISP</a:t>
            </a:r>
            <a:endParaRPr lang="ru-RU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D1B7D37-97B6-5103-96CA-3EBABB10BD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3200" y="893774"/>
            <a:ext cx="3167452" cy="424972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7B0DF1F-BA59-71D7-99A3-875AB1F2DF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8002" y="475103"/>
            <a:ext cx="5008164" cy="38493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60521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19A811D6-7A7D-D057-1420-F814672B7A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761" y="1759250"/>
            <a:ext cx="4063610" cy="305352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95FF015-FE82-11C7-F0D4-BC676D1C15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eBGP </a:t>
            </a:r>
            <a:endParaRPr lang="ru-RU" dirty="0"/>
          </a:p>
        </p:txBody>
      </p:sp>
      <p:sp>
        <p:nvSpPr>
          <p:cNvPr id="5" name="Google Shape;636;p114">
            <a:extLst>
              <a:ext uri="{FF2B5EF4-FFF2-40B4-BE49-F238E27FC236}">
                <a16:creationId xmlns:a16="http://schemas.microsoft.com/office/drawing/2014/main" id="{DE1149E2-B486-1BB3-4E8C-6B215F708ACE}"/>
              </a:ext>
            </a:extLst>
          </p:cNvPr>
          <p:cNvSpPr txBox="1"/>
          <p:nvPr/>
        </p:nvSpPr>
        <p:spPr>
          <a:xfrm>
            <a:off x="589670" y="930139"/>
            <a:ext cx="7224600" cy="4500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dirty="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ISP </a:t>
            </a:r>
            <a:r>
              <a:rPr lang="ru-RU" sz="1500" dirty="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отдают только </a:t>
            </a:r>
            <a:r>
              <a:rPr lang="en-US" sz="1500" dirty="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Default GW, </a:t>
            </a:r>
            <a:r>
              <a:rPr lang="ru-RU" sz="1500" dirty="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клиенты не отдают локальные префиксы</a:t>
            </a:r>
            <a:endParaRPr sz="1500" dirty="0">
              <a:solidFill>
                <a:srgbClr val="33333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" name="Google Shape;538;p106">
            <a:extLst>
              <a:ext uri="{FF2B5EF4-FFF2-40B4-BE49-F238E27FC236}">
                <a16:creationId xmlns:a16="http://schemas.microsoft.com/office/drawing/2014/main" id="{A88FBB79-0DC3-C48A-5298-43A948C6067B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72172" y="878674"/>
            <a:ext cx="456645" cy="45666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61BA315-485B-F62E-2757-50F7C4ADC41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67296" y="1608058"/>
            <a:ext cx="3753854" cy="320471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2EDDCC7-F0A6-C677-384E-5CA0549EDD7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09444" y="1608059"/>
            <a:ext cx="2783480" cy="11491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432513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D57A987D-0279-09B3-186D-AE56B41830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015" y="3069124"/>
            <a:ext cx="1987045" cy="174365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108DF21-29CF-F83C-E85E-F39D8981C8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BGP Attributes (Local Pref &amp; AS Prepends)		</a:t>
            </a:r>
            <a:endParaRPr lang="ru-RU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E143A1A-2657-7758-FC2B-30D457BDE9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606" y="878674"/>
            <a:ext cx="3324910" cy="229056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AD89D9E-A22F-17D5-86A1-631A5C4463C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53117" y="818147"/>
            <a:ext cx="3792119" cy="279218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05DC5DA-3B8E-AC78-ABE7-954E7E381C5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53117" y="3480762"/>
            <a:ext cx="3265860" cy="1381711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7C883F93-A4FC-C267-96EA-227C0011F41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74025" y="3068657"/>
            <a:ext cx="2603178" cy="18446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096630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>
            <a:extLst>
              <a:ext uri="{FF2B5EF4-FFF2-40B4-BE49-F238E27FC236}">
                <a16:creationId xmlns:a16="http://schemas.microsoft.com/office/drawing/2014/main" id="{05160376-6161-89A1-45A9-2EED3E35EE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800" y="4553040"/>
            <a:ext cx="1891009" cy="32720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508D649-8447-49AA-7394-5366AF6512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IPSec Tunnel mode</a:t>
            </a:r>
            <a:endParaRPr lang="ru-RU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019B5BB-7F4C-C622-37E8-3C128D5A8B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0550" y="838754"/>
            <a:ext cx="4556139" cy="129305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4CB6F2C-6DC8-1234-285C-B240C8BA1CA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9901" y="2269713"/>
            <a:ext cx="3198162" cy="2133598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AFDC4EBF-52E8-D110-F207-541626098C7E}"/>
              </a:ext>
            </a:extLst>
          </p:cNvPr>
          <p:cNvSpPr/>
          <p:nvPr/>
        </p:nvSpPr>
        <p:spPr>
          <a:xfrm>
            <a:off x="194143" y="3961362"/>
            <a:ext cx="1967210" cy="918886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E2788BF-C546-CCB4-50F8-DF95C5087E45}"/>
              </a:ext>
            </a:extLst>
          </p:cNvPr>
          <p:cNvSpPr/>
          <p:nvPr/>
        </p:nvSpPr>
        <p:spPr>
          <a:xfrm>
            <a:off x="194143" y="3138868"/>
            <a:ext cx="3053882" cy="22848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183149F-E68E-2BED-63A5-D7FAAD696FFE}"/>
              </a:ext>
            </a:extLst>
          </p:cNvPr>
          <p:cNvSpPr/>
          <p:nvPr/>
        </p:nvSpPr>
        <p:spPr>
          <a:xfrm>
            <a:off x="194143" y="2211058"/>
            <a:ext cx="3053882" cy="60834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5EDC2782-50AD-4422-2A24-CF6C911B7C9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99175" y="3961363"/>
            <a:ext cx="3099146" cy="792440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F2314200-B4AE-4456-D139-F2F02F3B694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74956" y="190499"/>
            <a:ext cx="3302324" cy="38338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487188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9A92C0D1-714C-1956-12E4-B18DC95859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0611" y="1144021"/>
            <a:ext cx="2260739" cy="284290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5F5ACA6-61B6-B7F3-D924-2B1C8C0531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0550" y="330724"/>
            <a:ext cx="8368442" cy="590388"/>
          </a:xfrm>
        </p:spPr>
        <p:txBody>
          <a:bodyPr/>
          <a:lstStyle/>
          <a:p>
            <a:r>
              <a:rPr lang="en-US" dirty="0"/>
              <a:t>CA	</a:t>
            </a:r>
            <a:endParaRPr lang="ru-RU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BED9B77-63C4-CBC2-4E9B-F5637C85F0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5212" y="398760"/>
            <a:ext cx="3543686" cy="358970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68CB1EE-4D65-EE73-7DEF-FCD2206D06C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10296" y="3997495"/>
            <a:ext cx="6675807" cy="867962"/>
          </a:xfrm>
          <a:prstGeom prst="rect">
            <a:avLst/>
          </a:prstGeom>
        </p:spPr>
      </p:pic>
      <p:sp>
        <p:nvSpPr>
          <p:cNvPr id="9" name="Google Shape;636;p114">
            <a:extLst>
              <a:ext uri="{FF2B5EF4-FFF2-40B4-BE49-F238E27FC236}">
                <a16:creationId xmlns:a16="http://schemas.microsoft.com/office/drawing/2014/main" id="{5583AB95-5197-0E9E-E4B2-843282012FE2}"/>
              </a:ext>
            </a:extLst>
          </p:cNvPr>
          <p:cNvSpPr txBox="1"/>
          <p:nvPr/>
        </p:nvSpPr>
        <p:spPr>
          <a:xfrm>
            <a:off x="589669" y="930139"/>
            <a:ext cx="3719119" cy="4500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dirty="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В качестве </a:t>
            </a:r>
            <a:r>
              <a:rPr lang="en-US" sz="1500" dirty="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CA </a:t>
            </a:r>
            <a:r>
              <a:rPr lang="ru-RU" sz="1500" dirty="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был выбран </a:t>
            </a:r>
            <a:r>
              <a:rPr lang="en-US" sz="1500" dirty="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R10</a:t>
            </a:r>
            <a:endParaRPr sz="1500" dirty="0">
              <a:solidFill>
                <a:srgbClr val="33333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0" name="Google Shape;538;p106">
            <a:extLst>
              <a:ext uri="{FF2B5EF4-FFF2-40B4-BE49-F238E27FC236}">
                <a16:creationId xmlns:a16="http://schemas.microsoft.com/office/drawing/2014/main" id="{B0CE02CA-3278-8161-9415-768EF0AF7107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72172" y="878674"/>
            <a:ext cx="456645" cy="45666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61104595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773B64B-9FA0-F640-BE4E-1FAD7E2105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3958" y="575308"/>
            <a:ext cx="4106394" cy="178212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0B67CF7-C699-4D2E-5C4A-26FC229883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964" y="2249742"/>
            <a:ext cx="2632982" cy="257175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3526DAC-E45D-FA6E-AB40-BEF6180F77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57014" y="158845"/>
            <a:ext cx="2915132" cy="482581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5F5ACA6-61B6-B7F3-D924-2B1C8C0531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GRE over IPSec </a:t>
            </a:r>
            <a:br>
              <a:rPr lang="en-US" dirty="0"/>
            </a:br>
            <a:endParaRPr lang="ru-RU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1FCEECC-5456-BB57-1E8A-B103BC161CC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964" y="1153842"/>
            <a:ext cx="1946218" cy="71437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7D4EEA6-5591-BCDA-3923-E89AF477169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15946" y="3014663"/>
            <a:ext cx="3066250" cy="18503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539131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Google Shape;438;p99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400" dirty="0"/>
              <a:t>Выводы</a:t>
            </a:r>
            <a:endParaRPr sz="30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000" dirty="0"/>
          </a:p>
        </p:txBody>
      </p:sp>
      <p:graphicFrame>
        <p:nvGraphicFramePr>
          <p:cNvPr id="439" name="Google Shape;439;p99"/>
          <p:cNvGraphicFramePr/>
          <p:nvPr>
            <p:extLst>
              <p:ext uri="{D42A27DB-BD31-4B8C-83A1-F6EECF244321}">
                <p14:modId xmlns:p14="http://schemas.microsoft.com/office/powerpoint/2010/main" val="4045909155"/>
              </p:ext>
            </p:extLst>
          </p:nvPr>
        </p:nvGraphicFramePr>
        <p:xfrm>
          <a:off x="500550" y="1058382"/>
          <a:ext cx="7424250" cy="3374016"/>
        </p:xfrm>
        <a:graphic>
          <a:graphicData uri="http://schemas.openxmlformats.org/drawingml/2006/table">
            <a:tbl>
              <a:tblPr>
                <a:noFill/>
                <a:tableStyleId>{67F86677-F069-4C29-8C1D-3D470B11A655}</a:tableStyleId>
              </a:tblPr>
              <a:tblGrid>
                <a:gridCol w="59098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332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600" b="1" dirty="0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sz="1600" b="1" dirty="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600" dirty="0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Смоделирована вполне рабочая сеть организации и по сути цель достигнута, хотя в ходе выполнения вектор несколько раз менялся </a:t>
                      </a:r>
                      <a:endParaRPr sz="1600" dirty="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 dirty="0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" sz="1600" b="1" dirty="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600" dirty="0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Есть альтернативные варианты решения задач, со своими достоинствами и недостатками</a:t>
                      </a:r>
                    </a:p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600" dirty="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600" b="1" dirty="0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3.</a:t>
                      </a:r>
                      <a:endParaRPr sz="1600" b="1" dirty="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ru-RU" sz="1600" dirty="0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Работа помогла закрепить знания, полученные при прохождении курса, особенно в области маршрутизации и фильтрации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ru-RU" sz="1600" dirty="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ru-RU" sz="1600" b="1" dirty="0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4</a:t>
                      </a:r>
                      <a:r>
                        <a:rPr lang="ru-RU" sz="1400" b="1" dirty="0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.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198000" marR="91425" marT="91425" marB="91425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600" dirty="0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Новые горизонты и поле для дальнейшего роста</a:t>
                      </a:r>
                      <a:endParaRPr sz="1600" dirty="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2" name="Google Shape;532;p106">
            <a:extLst>
              <a:ext uri="{FF2B5EF4-FFF2-40B4-BE49-F238E27FC236}">
                <a16:creationId xmlns:a16="http://schemas.microsoft.com/office/drawing/2014/main" id="{6CE2FF87-F37F-06BA-5B53-0468536DACC8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904044" y="2745390"/>
            <a:ext cx="470090" cy="470071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Google Shape;524;p106">
            <a:extLst>
              <a:ext uri="{FF2B5EF4-FFF2-40B4-BE49-F238E27FC236}">
                <a16:creationId xmlns:a16="http://schemas.microsoft.com/office/drawing/2014/main" id="{30F5B7FB-35ED-AE1E-483B-65A70CE827D1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924800" y="1002817"/>
            <a:ext cx="588118" cy="588116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Google Shape;552;p106">
            <a:extLst>
              <a:ext uri="{FF2B5EF4-FFF2-40B4-BE49-F238E27FC236}">
                <a16:creationId xmlns:a16="http://schemas.microsoft.com/office/drawing/2014/main" id="{3C09BA0D-F7CE-2A3B-29C1-65A2B742F30B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884857" y="1816718"/>
            <a:ext cx="508464" cy="508465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Google Shape;530;p106">
            <a:extLst>
              <a:ext uri="{FF2B5EF4-FFF2-40B4-BE49-F238E27FC236}">
                <a16:creationId xmlns:a16="http://schemas.microsoft.com/office/drawing/2014/main" id="{329D997C-EBAF-9665-ED81-BF058EB73C2B}"/>
              </a:ext>
            </a:extLst>
          </p:cNvPr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7863000" y="3667032"/>
            <a:ext cx="552178" cy="5521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7" name="Google Shape;447;p100"/>
          <p:cNvPicPr preferRelativeResize="0"/>
          <p:nvPr/>
        </p:nvPicPr>
        <p:blipFill rotWithShape="1">
          <a:blip r:embed="rId3">
            <a:alphaModFix/>
          </a:blip>
          <a:srcRect l="10873" b="29922"/>
          <a:stretch/>
        </p:blipFill>
        <p:spPr>
          <a:xfrm>
            <a:off x="-75950" y="0"/>
            <a:ext cx="940875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48" name="Google Shape;448;p100"/>
          <p:cNvSpPr txBox="1"/>
          <p:nvPr/>
        </p:nvSpPr>
        <p:spPr>
          <a:xfrm>
            <a:off x="387050" y="1844625"/>
            <a:ext cx="75843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4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Вопросы и рекомендации</a:t>
            </a:r>
            <a:endParaRPr sz="45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49" name="Google Shape;449;p100"/>
          <p:cNvSpPr txBox="1"/>
          <p:nvPr/>
        </p:nvSpPr>
        <p:spPr>
          <a:xfrm>
            <a:off x="1214696" y="3061975"/>
            <a:ext cx="19275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если есть вопросы</a:t>
            </a:r>
            <a:endParaRPr sz="15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50" name="Google Shape;450;p100"/>
          <p:cNvSpPr txBox="1"/>
          <p:nvPr/>
        </p:nvSpPr>
        <p:spPr>
          <a:xfrm>
            <a:off x="4934996" y="3061975"/>
            <a:ext cx="2145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ru" sz="15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если вопросов нет</a:t>
            </a:r>
            <a:endParaRPr sz="15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51" name="Google Shape;451;p100"/>
          <p:cNvSpPr txBox="1"/>
          <p:nvPr/>
        </p:nvSpPr>
        <p:spPr>
          <a:xfrm>
            <a:off x="723000" y="2846425"/>
            <a:ext cx="4917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43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43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52" name="Google Shape;452;p100"/>
          <p:cNvSpPr txBox="1"/>
          <p:nvPr/>
        </p:nvSpPr>
        <p:spPr>
          <a:xfrm>
            <a:off x="4443300" y="2846425"/>
            <a:ext cx="4917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43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– </a:t>
            </a:r>
            <a:endParaRPr sz="43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0" name="Google Shape;460;p101"/>
          <p:cNvPicPr preferRelativeResize="0"/>
          <p:nvPr/>
        </p:nvPicPr>
        <p:blipFill rotWithShape="1">
          <a:blip r:embed="rId3">
            <a:alphaModFix/>
          </a:blip>
          <a:srcRect t="5495" b="38716"/>
          <a:stretch/>
        </p:blipFill>
        <p:spPr>
          <a:xfrm>
            <a:off x="-75950" y="0"/>
            <a:ext cx="921995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61" name="Google Shape;461;p101"/>
          <p:cNvSpPr txBox="1">
            <a:spLocks noGrp="1"/>
          </p:cNvSpPr>
          <p:nvPr>
            <p:ph type="title" idx="4294967295"/>
          </p:nvPr>
        </p:nvSpPr>
        <p:spPr>
          <a:xfrm>
            <a:off x="629000" y="1932525"/>
            <a:ext cx="7295100" cy="1956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5000" dirty="0">
                <a:solidFill>
                  <a:schemeClr val="lt1"/>
                </a:solidFill>
              </a:rPr>
              <a:t>Спасибо за внимание!</a:t>
            </a:r>
            <a:endParaRPr sz="5000" dirty="0">
              <a:solidFill>
                <a:schemeClr val="lt1"/>
              </a:solidFill>
            </a:endParaRPr>
          </a:p>
        </p:txBody>
      </p:sp>
      <p:pic>
        <p:nvPicPr>
          <p:cNvPr id="462" name="Google Shape;462;p10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328113" y="1616723"/>
            <a:ext cx="595986" cy="59599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6402BA"/>
      </a:dk2>
      <a:lt2>
        <a:srgbClr val="EEEEEE"/>
      </a:lt2>
      <a:accent1>
        <a:srgbClr val="7629BA"/>
      </a:accent1>
      <a:accent2>
        <a:srgbClr val="8B8EE3"/>
      </a:accent2>
      <a:accent3>
        <a:srgbClr val="BFC1F0"/>
      </a:accent3>
      <a:accent4>
        <a:srgbClr val="FFAB40"/>
      </a:accent4>
      <a:accent5>
        <a:srgbClr val="0097A7"/>
      </a:accent5>
      <a:accent6>
        <a:srgbClr val="EEFF41"/>
      </a:accent6>
      <a:hlink>
        <a:srgbClr val="8B8EE3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2076</TotalTime>
  <Words>212</Words>
  <Application>Microsoft Office PowerPoint</Application>
  <PresentationFormat>On-screen Show (16:9)</PresentationFormat>
  <Paragraphs>51</Paragraphs>
  <Slides>18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18</vt:i4>
      </vt:variant>
    </vt:vector>
  </HeadingPairs>
  <TitlesOfParts>
    <vt:vector size="25" baseType="lpstr">
      <vt:lpstr>Roboto</vt:lpstr>
      <vt:lpstr>Courier New</vt:lpstr>
      <vt:lpstr>Arial</vt:lpstr>
      <vt:lpstr>Roboto Medium</vt:lpstr>
      <vt:lpstr>Светлая тема</vt:lpstr>
      <vt:lpstr>Светлая тема</vt:lpstr>
      <vt:lpstr>Светлая тема</vt:lpstr>
      <vt:lpstr>PowerPoint Presentation</vt:lpstr>
      <vt:lpstr>Меня хорошо видно &amp; слышно?</vt:lpstr>
      <vt:lpstr>Защита проекта Тема:Организация отказоустойчивой сети предприятия с географически распределенными ресурсами    </vt:lpstr>
      <vt:lpstr>План защиты</vt:lpstr>
      <vt:lpstr>PowerPoint Presentation</vt:lpstr>
      <vt:lpstr>Концептуальная схема</vt:lpstr>
      <vt:lpstr>Топология</vt:lpstr>
      <vt:lpstr>IGP Office 1</vt:lpstr>
      <vt:lpstr>IGP Office 2</vt:lpstr>
      <vt:lpstr>IGP ISP</vt:lpstr>
      <vt:lpstr>eBGP </vt:lpstr>
      <vt:lpstr>BGP Attributes (Local Pref &amp; AS Prepends)  </vt:lpstr>
      <vt:lpstr>IPSec Tunnel mode</vt:lpstr>
      <vt:lpstr>CA </vt:lpstr>
      <vt:lpstr>GRE over IPSec  </vt:lpstr>
      <vt:lpstr>Выводы </vt:lpstr>
      <vt:lpstr>PowerPoint Presentation</vt:lpstr>
      <vt:lpstr>Спасибо за внимание!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ads_freeze_md ads_freeze_md</cp:lastModifiedBy>
  <cp:revision>28</cp:revision>
  <dcterms:modified xsi:type="dcterms:W3CDTF">2026-04-30T14:18:40Z</dcterms:modified>
</cp:coreProperties>
</file>